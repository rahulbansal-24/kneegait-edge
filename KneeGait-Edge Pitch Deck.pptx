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Montserrat Bold" charset="1" panose="00000800000000000000"/>
      <p:regular r:id="rId18"/>
    </p:embeddedFont>
    <p:embeddedFont>
      <p:font typeface="Open Sans" charset="1" panose="00000000000000000000"/>
      <p:regular r:id="rId19"/>
    </p:embeddedFont>
    <p:embeddedFont>
      <p:font typeface="Open Sans Bold" charset="1" panose="00000000000000000000"/>
      <p:regular r:id="rId20"/>
    </p:embeddedFont>
    <p:embeddedFont>
      <p:font typeface="Montserrat" charset="1" panose="00000500000000000000"/>
      <p:regular r:id="rId21"/>
    </p:embeddedFont>
    <p:embeddedFont>
      <p:font typeface="IBM Plex Mono" charset="1" panose="020B0509050203000203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191500" y="0"/>
            <a:ext cx="10096500" cy="10287000"/>
            <a:chOff x="0" y="0"/>
            <a:chExt cx="13462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46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3462000">
                  <a:moveTo>
                    <a:pt x="0" y="0"/>
                  </a:moveTo>
                  <a:lnTo>
                    <a:pt x="13462000" y="0"/>
                  </a:lnTo>
                  <a:lnTo>
                    <a:pt x="1346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AF6FF">
                <a:alpha val="35686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462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953500" y="0"/>
            <a:ext cx="9334500" cy="10287000"/>
          </a:xfrm>
          <a:custGeom>
            <a:avLst/>
            <a:gdLst/>
            <a:ahLst/>
            <a:cxnLst/>
            <a:rect r="r" b="b" t="t" l="l"/>
            <a:pathLst>
              <a:path h="10287000" w="9334500">
                <a:moveTo>
                  <a:pt x="0" y="0"/>
                </a:moveTo>
                <a:lnTo>
                  <a:pt x="9334500" y="0"/>
                </a:lnTo>
                <a:lnTo>
                  <a:pt x="93345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" r="0" b="-63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" id="6"/>
          <p:cNvGrpSpPr/>
          <p:nvPr/>
        </p:nvGrpSpPr>
        <p:grpSpPr>
          <a:xfrm rot="0">
            <a:off x="876300" y="6477000"/>
            <a:ext cx="5905500" cy="47625"/>
            <a:chOff x="0" y="0"/>
            <a:chExt cx="7874000" cy="63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874000" cy="63500"/>
            </a:xfrm>
            <a:custGeom>
              <a:avLst/>
              <a:gdLst/>
              <a:ahLst/>
              <a:cxnLst/>
              <a:rect r="r" b="b" t="t" l="l"/>
              <a:pathLst>
                <a:path h="63500" w="7874000">
                  <a:moveTo>
                    <a:pt x="0" y="0"/>
                  </a:moveTo>
                  <a:lnTo>
                    <a:pt x="7874000" y="0"/>
                  </a:lnTo>
                  <a:lnTo>
                    <a:pt x="78740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6C6DA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8740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876300" y="2076450"/>
            <a:ext cx="7524750" cy="226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20"/>
              </a:lnSpc>
            </a:pPr>
            <a:r>
              <a:rPr lang="en-US" sz="84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KneeGait-</a:t>
            </a:r>
          </a:p>
          <a:p>
            <a:pPr algn="l">
              <a:lnSpc>
                <a:spcPts val="8820"/>
              </a:lnSpc>
            </a:pPr>
            <a:r>
              <a:rPr lang="en-US" sz="84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Edge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76300" y="4533900"/>
            <a:ext cx="7239000" cy="408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1"/>
              </a:lnSpc>
            </a:pPr>
            <a:r>
              <a:rPr lang="en-US" sz="2775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Democratizing Gait Intelligence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76300" y="5181600"/>
            <a:ext cx="6667500" cy="347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0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A ₹516 Edge-AI Wearable for Accessible Gait Analysis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876300" y="6838950"/>
            <a:ext cx="6399829" cy="936307"/>
            <a:chOff x="0" y="0"/>
            <a:chExt cx="8533105" cy="124841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85725"/>
              <a:ext cx="3302000" cy="11626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57"/>
                </a:lnSpc>
              </a:pPr>
              <a:r>
                <a:rPr lang="en-US" sz="6150" b="true">
                  <a:solidFill>
                    <a:srgbClr val="1677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₹516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3276600" y="355600"/>
              <a:ext cx="5256505" cy="4504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04"/>
                </a:lnSpc>
              </a:pPr>
              <a:r>
                <a:rPr lang="en-US" sz="2074" spc="248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ACCESSIBLE BY DESIGN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286750" y="2495550"/>
            <a:ext cx="9124950" cy="4953000"/>
          </a:xfrm>
          <a:custGeom>
            <a:avLst/>
            <a:gdLst/>
            <a:ahLst/>
            <a:cxnLst/>
            <a:rect r="r" b="b" t="t" l="l"/>
            <a:pathLst>
              <a:path h="4953000" w="9124950">
                <a:moveTo>
                  <a:pt x="0" y="0"/>
                </a:moveTo>
                <a:lnTo>
                  <a:pt x="9124950" y="0"/>
                </a:lnTo>
                <a:lnTo>
                  <a:pt x="9124950" y="4953000"/>
                </a:lnTo>
                <a:lnTo>
                  <a:pt x="0" y="4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" t="0" r="-27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8286750" y="2495550"/>
            <a:ext cx="4562475" cy="4953000"/>
            <a:chOff x="0" y="0"/>
            <a:chExt cx="6083300" cy="660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833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6083300">
                  <a:moveTo>
                    <a:pt x="0" y="0"/>
                  </a:moveTo>
                  <a:lnTo>
                    <a:pt x="6083300" y="0"/>
                  </a:lnTo>
                  <a:lnTo>
                    <a:pt x="60833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092A4A">
                <a:alpha val="7843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0833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76300" y="581025"/>
            <a:ext cx="47625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THE ACCESS GAP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6300" y="1123950"/>
            <a:ext cx="15430500" cy="1109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Gait analysis shouldn’t be locked behind expensive infrastructure.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3248025"/>
            <a:ext cx="5810250" cy="358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6"/>
              </a:lnSpc>
            </a:pPr>
            <a:r>
              <a:rPr lang="en-US" sz="2474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Traditional Approach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6300" y="3819525"/>
            <a:ext cx="5810250" cy="1506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69581" indent="-234790" lvl="1">
              <a:lnSpc>
                <a:spcPts val="3044"/>
              </a:lnSpc>
              <a:buFont typeface="Arial"/>
              <a:buChar char="•"/>
            </a:pPr>
            <a:r>
              <a:rPr lang="en-US" sz="21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Specialized equipment</a:t>
            </a:r>
          </a:p>
          <a:p>
            <a:pPr algn="l" marL="469581" indent="-234790" lvl="1">
              <a:lnSpc>
                <a:spcPts val="3044"/>
              </a:lnSpc>
              <a:buFont typeface="Arial"/>
              <a:buChar char="•"/>
            </a:pPr>
            <a:r>
              <a:rPr lang="en-US" sz="21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Expensive infrastructure</a:t>
            </a:r>
          </a:p>
          <a:p>
            <a:pPr algn="l" marL="469581" indent="-234790" lvl="1">
              <a:lnSpc>
                <a:spcPts val="3044"/>
              </a:lnSpc>
              <a:buFont typeface="Arial"/>
              <a:buChar char="•"/>
            </a:pPr>
            <a:r>
              <a:rPr lang="en-US" sz="21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Laboratory-dependent</a:t>
            </a:r>
          </a:p>
          <a:p>
            <a:pPr algn="l" marL="469581" indent="-234790" lvl="1">
              <a:lnSpc>
                <a:spcPts val="3044"/>
              </a:lnSpc>
              <a:buFont typeface="Arial"/>
              <a:buChar char="•"/>
            </a:pPr>
            <a:r>
              <a:rPr lang="en-US" sz="21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Limited access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76300" y="6551295"/>
            <a:ext cx="5715000" cy="35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1"/>
              </a:lnSpc>
            </a:pPr>
            <a:r>
              <a:rPr lang="en-US" sz="2374" b="true">
                <a:solidFill>
                  <a:srgbClr val="1677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Need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76300" y="7084695"/>
            <a:ext cx="695325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4"/>
              </a:lnSpc>
            </a:pPr>
            <a:r>
              <a:rPr lang="en-US" sz="21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Portable  •  Affordable  •  Real-time  •  Accessible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6300" y="8467725"/>
            <a:ext cx="14287500" cy="378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Can gait intelligence become portable, accessible and affordable?</a:t>
            </a:r>
          </a:p>
        </p:txBody>
      </p:sp>
      <p:sp>
        <p:nvSpPr>
          <p:cNvPr name="AutoShape 13" id="13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876300" y="9744075"/>
            <a:ext cx="328981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096500" y="1666875"/>
            <a:ext cx="6858000" cy="4953000"/>
          </a:xfrm>
          <a:custGeom>
            <a:avLst/>
            <a:gdLst/>
            <a:ahLst/>
            <a:cxnLst/>
            <a:rect r="r" b="b" t="t" l="l"/>
            <a:pathLst>
              <a:path h="4953000" w="6858000">
                <a:moveTo>
                  <a:pt x="0" y="0"/>
                </a:moveTo>
                <a:lnTo>
                  <a:pt x="6858000" y="0"/>
                </a:lnTo>
                <a:lnTo>
                  <a:pt x="6858000" y="4953000"/>
                </a:lnTo>
                <a:lnTo>
                  <a:pt x="0" y="4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9" r="0" b="-19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876300" y="581025"/>
            <a:ext cx="40005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THE PROTOTYPE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6300" y="1200150"/>
            <a:ext cx="8096250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1"/>
              </a:lnSpc>
            </a:pPr>
            <a:r>
              <a:rPr lang="en-US" sz="4149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Meet KneeGait-Edge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6300" y="2009775"/>
            <a:ext cx="7810500" cy="780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2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A wearable Edge-AI prototype measuring dynamic knee flexion using two IMUs mounted on thigh and shank.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96500" y="7000875"/>
            <a:ext cx="6858000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2"/>
              </a:lnSpc>
            </a:pPr>
            <a:r>
              <a:rPr lang="en-US" sz="19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From body movement to real-time gait intelligence.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6300" y="4333875"/>
            <a:ext cx="3762375" cy="1690370"/>
            <a:chOff x="0" y="0"/>
            <a:chExt cx="5016500" cy="2253827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5016500" cy="2253827"/>
              <a:chOff x="0" y="0"/>
              <a:chExt cx="5016500" cy="2253827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5016500" cy="2253827"/>
              </a:xfrm>
              <a:custGeom>
                <a:avLst/>
                <a:gdLst/>
                <a:ahLst/>
                <a:cxnLst/>
                <a:rect r="r" b="b" t="t" l="l"/>
                <a:pathLst>
                  <a:path h="2253827" w="5016500">
                    <a:moveTo>
                      <a:pt x="0" y="0"/>
                    </a:moveTo>
                    <a:lnTo>
                      <a:pt x="5016500" y="0"/>
                    </a:lnTo>
                    <a:lnTo>
                      <a:pt x="5016500" y="2253827"/>
                    </a:lnTo>
                    <a:lnTo>
                      <a:pt x="0" y="2253827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47625"/>
                <a:ext cx="5016500" cy="23014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355600" y="288925"/>
              <a:ext cx="4445000" cy="8295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01  SENSE</a:t>
              </a:r>
            </a:p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Two IMUs capture movement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972050" y="4333875"/>
            <a:ext cx="3762375" cy="1690370"/>
            <a:chOff x="0" y="0"/>
            <a:chExt cx="5016500" cy="2253827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5016500" cy="2253827"/>
              <a:chOff x="0" y="0"/>
              <a:chExt cx="5016500" cy="225382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5016500" cy="2253827"/>
              </a:xfrm>
              <a:custGeom>
                <a:avLst/>
                <a:gdLst/>
                <a:ahLst/>
                <a:cxnLst/>
                <a:rect r="r" b="b" t="t" l="l"/>
                <a:pathLst>
                  <a:path h="2253827" w="5016500">
                    <a:moveTo>
                      <a:pt x="0" y="0"/>
                    </a:moveTo>
                    <a:lnTo>
                      <a:pt x="5016500" y="0"/>
                    </a:lnTo>
                    <a:lnTo>
                      <a:pt x="5016500" y="2253827"/>
                    </a:lnTo>
                    <a:lnTo>
                      <a:pt x="0" y="2253827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47625"/>
                <a:ext cx="5016500" cy="23014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355600" y="288925"/>
              <a:ext cx="4445000" cy="8295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02  COMPUTE</a:t>
              </a:r>
            </a:p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ESP32 processes in real time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" y="6286500"/>
            <a:ext cx="3762375" cy="1690370"/>
            <a:chOff x="0" y="0"/>
            <a:chExt cx="5016500" cy="2253827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5016500" cy="2253827"/>
              <a:chOff x="0" y="0"/>
              <a:chExt cx="5016500" cy="225382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016500" cy="2253827"/>
              </a:xfrm>
              <a:custGeom>
                <a:avLst/>
                <a:gdLst/>
                <a:ahLst/>
                <a:cxnLst/>
                <a:rect r="r" b="b" t="t" l="l"/>
                <a:pathLst>
                  <a:path h="2253827" w="5016500">
                    <a:moveTo>
                      <a:pt x="0" y="0"/>
                    </a:moveTo>
                    <a:lnTo>
                      <a:pt x="5016500" y="0"/>
                    </a:lnTo>
                    <a:lnTo>
                      <a:pt x="5016500" y="2253827"/>
                    </a:lnTo>
                    <a:lnTo>
                      <a:pt x="0" y="2253827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5016500" cy="23014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355600" y="288925"/>
              <a:ext cx="4445000" cy="8295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03  ANALYZE</a:t>
              </a:r>
            </a:p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Gait features are extracted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972050" y="6286500"/>
            <a:ext cx="3762375" cy="1690370"/>
            <a:chOff x="0" y="0"/>
            <a:chExt cx="5016500" cy="2253827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5016500" cy="2253827"/>
              <a:chOff x="0" y="0"/>
              <a:chExt cx="5016500" cy="2253827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5016500" cy="2253827"/>
              </a:xfrm>
              <a:custGeom>
                <a:avLst/>
                <a:gdLst/>
                <a:ahLst/>
                <a:cxnLst/>
                <a:rect r="r" b="b" t="t" l="l"/>
                <a:pathLst>
                  <a:path h="2253827" w="5016500">
                    <a:moveTo>
                      <a:pt x="0" y="0"/>
                    </a:moveTo>
                    <a:lnTo>
                      <a:pt x="5016500" y="0"/>
                    </a:lnTo>
                    <a:lnTo>
                      <a:pt x="5016500" y="2253827"/>
                    </a:lnTo>
                    <a:lnTo>
                      <a:pt x="0" y="2253827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47625"/>
                <a:ext cx="5016500" cy="23014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355600" y="288925"/>
              <a:ext cx="4445000" cy="8295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04  VISUALIZE</a:t>
              </a:r>
            </a:p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BLE streams to the browser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876300" y="9744075"/>
            <a:ext cx="307366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38100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SYSTEM FLOW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104775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From Motion to Gait Intelligence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76300" y="2537778"/>
            <a:ext cx="2095500" cy="1143000"/>
            <a:chOff x="0" y="0"/>
            <a:chExt cx="2794000" cy="152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79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420091"/>
                  </a:lnTo>
                  <a:cubicBezTo>
                    <a:pt x="2794000" y="1447649"/>
                    <a:pt x="2783052" y="1474079"/>
                    <a:pt x="2763566" y="1493566"/>
                  </a:cubicBezTo>
                  <a:cubicBezTo>
                    <a:pt x="2744079" y="1513053"/>
                    <a:pt x="2717649" y="1524000"/>
                    <a:pt x="2690091" y="1524000"/>
                  </a:cubicBezTo>
                  <a:lnTo>
                    <a:pt x="103909" y="1524000"/>
                  </a:lnTo>
                  <a:cubicBezTo>
                    <a:pt x="76351" y="1524000"/>
                    <a:pt x="49921" y="1513053"/>
                    <a:pt x="30434" y="1493566"/>
                  </a:cubicBezTo>
                  <a:cubicBezTo>
                    <a:pt x="10948" y="1474079"/>
                    <a:pt x="0" y="1447649"/>
                    <a:pt x="0" y="14200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EAF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79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THIGH IMU</a:t>
              </a:r>
            </a:p>
          </p:txBody>
        </p:sp>
      </p:grpSp>
      <p:sp>
        <p:nvSpPr>
          <p:cNvPr name="AutoShape 7" id="7"/>
          <p:cNvSpPr/>
          <p:nvPr/>
        </p:nvSpPr>
        <p:spPr>
          <a:xfrm>
            <a:off x="2971800" y="3109278"/>
            <a:ext cx="685800" cy="0"/>
          </a:xfrm>
          <a:prstGeom prst="line">
            <a:avLst/>
          </a:prstGeom>
          <a:ln cap="rnd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3829050" y="2537778"/>
            <a:ext cx="2095500" cy="1143000"/>
            <a:chOff x="0" y="0"/>
            <a:chExt cx="2794000" cy="1524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9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420091"/>
                  </a:lnTo>
                  <a:cubicBezTo>
                    <a:pt x="2794000" y="1447649"/>
                    <a:pt x="2783052" y="1474079"/>
                    <a:pt x="2763566" y="1493566"/>
                  </a:cubicBezTo>
                  <a:cubicBezTo>
                    <a:pt x="2744079" y="1513053"/>
                    <a:pt x="2717649" y="1524000"/>
                    <a:pt x="2690091" y="1524000"/>
                  </a:cubicBezTo>
                  <a:lnTo>
                    <a:pt x="103909" y="1524000"/>
                  </a:lnTo>
                  <a:cubicBezTo>
                    <a:pt x="76351" y="1524000"/>
                    <a:pt x="49921" y="1513053"/>
                    <a:pt x="30434" y="1493566"/>
                  </a:cubicBezTo>
                  <a:cubicBezTo>
                    <a:pt x="10948" y="1474079"/>
                    <a:pt x="0" y="1447649"/>
                    <a:pt x="0" y="14200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D9F7F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79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ESP32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NODEMCU</a:t>
              </a:r>
            </a:p>
          </p:txBody>
        </p:sp>
      </p:grpSp>
      <p:sp>
        <p:nvSpPr>
          <p:cNvPr name="AutoShape 11" id="11"/>
          <p:cNvSpPr/>
          <p:nvPr/>
        </p:nvSpPr>
        <p:spPr>
          <a:xfrm>
            <a:off x="5924550" y="3109278"/>
            <a:ext cx="590550" cy="0"/>
          </a:xfrm>
          <a:prstGeom prst="line">
            <a:avLst/>
          </a:prstGeom>
          <a:ln cap="rnd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6686550" y="2537778"/>
            <a:ext cx="2095500" cy="1143000"/>
            <a:chOff x="0" y="0"/>
            <a:chExt cx="2794000" cy="1524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9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420091"/>
                  </a:lnTo>
                  <a:cubicBezTo>
                    <a:pt x="2794000" y="1447649"/>
                    <a:pt x="2783052" y="1474079"/>
                    <a:pt x="2763566" y="1493566"/>
                  </a:cubicBezTo>
                  <a:cubicBezTo>
                    <a:pt x="2744079" y="1513053"/>
                    <a:pt x="2717649" y="1524000"/>
                    <a:pt x="2690091" y="1524000"/>
                  </a:cubicBezTo>
                  <a:lnTo>
                    <a:pt x="103909" y="1524000"/>
                  </a:lnTo>
                  <a:cubicBezTo>
                    <a:pt x="76351" y="1524000"/>
                    <a:pt x="49921" y="1513053"/>
                    <a:pt x="30434" y="1493566"/>
                  </a:cubicBezTo>
                  <a:cubicBezTo>
                    <a:pt x="10948" y="1474079"/>
                    <a:pt x="0" y="1447649"/>
                    <a:pt x="0" y="14200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EAF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79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SENSOR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FUSION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>
            <a:off x="8782050" y="3109278"/>
            <a:ext cx="495300" cy="0"/>
          </a:xfrm>
          <a:prstGeom prst="line">
            <a:avLst/>
          </a:prstGeom>
          <a:ln cap="rnd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9448800" y="2537778"/>
            <a:ext cx="2095500" cy="1143000"/>
            <a:chOff x="0" y="0"/>
            <a:chExt cx="2794000" cy="1524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79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420091"/>
                  </a:lnTo>
                  <a:cubicBezTo>
                    <a:pt x="2794000" y="1447649"/>
                    <a:pt x="2783052" y="1474079"/>
                    <a:pt x="2763566" y="1493566"/>
                  </a:cubicBezTo>
                  <a:cubicBezTo>
                    <a:pt x="2744079" y="1513053"/>
                    <a:pt x="2717649" y="1524000"/>
                    <a:pt x="2690091" y="1524000"/>
                  </a:cubicBezTo>
                  <a:lnTo>
                    <a:pt x="103909" y="1524000"/>
                  </a:lnTo>
                  <a:cubicBezTo>
                    <a:pt x="76351" y="1524000"/>
                    <a:pt x="49921" y="1513053"/>
                    <a:pt x="30434" y="1493566"/>
                  </a:cubicBezTo>
                  <a:cubicBezTo>
                    <a:pt x="10948" y="1474079"/>
                    <a:pt x="0" y="1447649"/>
                    <a:pt x="0" y="14200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EAF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79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KNEE FLEXION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CALCULATION</a:t>
              </a:r>
            </a:p>
          </p:txBody>
        </p:sp>
      </p:grpSp>
      <p:sp>
        <p:nvSpPr>
          <p:cNvPr name="AutoShape 19" id="19"/>
          <p:cNvSpPr/>
          <p:nvPr/>
        </p:nvSpPr>
        <p:spPr>
          <a:xfrm>
            <a:off x="11544300" y="3109278"/>
            <a:ext cx="590550" cy="0"/>
          </a:xfrm>
          <a:prstGeom prst="line">
            <a:avLst/>
          </a:prstGeom>
          <a:ln cap="rnd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12306300" y="2537778"/>
            <a:ext cx="2095500" cy="1143000"/>
            <a:chOff x="0" y="0"/>
            <a:chExt cx="2794000" cy="1524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9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420091"/>
                  </a:lnTo>
                  <a:cubicBezTo>
                    <a:pt x="2794000" y="1447649"/>
                    <a:pt x="2783052" y="1474079"/>
                    <a:pt x="2763566" y="1493566"/>
                  </a:cubicBezTo>
                  <a:cubicBezTo>
                    <a:pt x="2744079" y="1513053"/>
                    <a:pt x="2717649" y="1524000"/>
                    <a:pt x="2690091" y="1524000"/>
                  </a:cubicBezTo>
                  <a:lnTo>
                    <a:pt x="103909" y="1524000"/>
                  </a:lnTo>
                  <a:cubicBezTo>
                    <a:pt x="76351" y="1524000"/>
                    <a:pt x="49921" y="1513053"/>
                    <a:pt x="30434" y="1493566"/>
                  </a:cubicBezTo>
                  <a:cubicBezTo>
                    <a:pt x="10948" y="1474079"/>
                    <a:pt x="0" y="1447649"/>
                    <a:pt x="0" y="14200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EAF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279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BLE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TELEMETRY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4401800" y="3109278"/>
            <a:ext cx="400050" cy="0"/>
          </a:xfrm>
          <a:prstGeom prst="line">
            <a:avLst/>
          </a:prstGeom>
          <a:ln cap="rnd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4973300" y="2537778"/>
            <a:ext cx="2571750" cy="1143000"/>
            <a:chOff x="0" y="0"/>
            <a:chExt cx="3429000" cy="1524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429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3429000">
                  <a:moveTo>
                    <a:pt x="84667" y="0"/>
                  </a:moveTo>
                  <a:lnTo>
                    <a:pt x="3344333" y="0"/>
                  </a:lnTo>
                  <a:cubicBezTo>
                    <a:pt x="3391093" y="0"/>
                    <a:pt x="3429000" y="37907"/>
                    <a:pt x="3429000" y="84667"/>
                  </a:cubicBezTo>
                  <a:lnTo>
                    <a:pt x="3429000" y="1439333"/>
                  </a:lnTo>
                  <a:cubicBezTo>
                    <a:pt x="3429000" y="1486093"/>
                    <a:pt x="3391093" y="1524000"/>
                    <a:pt x="3344333" y="1524000"/>
                  </a:cubicBezTo>
                  <a:lnTo>
                    <a:pt x="84667" y="1524000"/>
                  </a:lnTo>
                  <a:cubicBezTo>
                    <a:pt x="37907" y="1524000"/>
                    <a:pt x="0" y="1486093"/>
                    <a:pt x="0" y="1439333"/>
                  </a:cubicBezTo>
                  <a:lnTo>
                    <a:pt x="0" y="84667"/>
                  </a:lnTo>
                  <a:cubicBezTo>
                    <a:pt x="0" y="37907"/>
                    <a:pt x="37907" y="0"/>
                    <a:pt x="84667" y="0"/>
                  </a:cubicBezTo>
                  <a:close/>
                </a:path>
              </a:pathLst>
            </a:custGeom>
            <a:solidFill>
              <a:srgbClr val="EAF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3429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WEB BLUETOOTH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DASHBOARD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829050" y="5014278"/>
            <a:ext cx="2095500" cy="1000125"/>
            <a:chOff x="0" y="0"/>
            <a:chExt cx="2794000" cy="13335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794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794000">
                  <a:moveTo>
                    <a:pt x="103909" y="0"/>
                  </a:moveTo>
                  <a:lnTo>
                    <a:pt x="2690091" y="0"/>
                  </a:lnTo>
                  <a:cubicBezTo>
                    <a:pt x="2717649" y="0"/>
                    <a:pt x="2744079" y="10948"/>
                    <a:pt x="2763566" y="30434"/>
                  </a:cubicBezTo>
                  <a:cubicBezTo>
                    <a:pt x="2783052" y="49921"/>
                    <a:pt x="2794000" y="76351"/>
                    <a:pt x="2794000" y="103909"/>
                  </a:cubicBezTo>
                  <a:lnTo>
                    <a:pt x="2794000" y="1229591"/>
                  </a:lnTo>
                  <a:cubicBezTo>
                    <a:pt x="2794000" y="1257149"/>
                    <a:pt x="2783052" y="1283579"/>
                    <a:pt x="2763566" y="1303066"/>
                  </a:cubicBezTo>
                  <a:cubicBezTo>
                    <a:pt x="2744079" y="1322553"/>
                    <a:pt x="2717649" y="1333500"/>
                    <a:pt x="2690091" y="1333500"/>
                  </a:cubicBezTo>
                  <a:lnTo>
                    <a:pt x="103909" y="1333500"/>
                  </a:lnTo>
                  <a:cubicBezTo>
                    <a:pt x="76351" y="1333500"/>
                    <a:pt x="49921" y="1322553"/>
                    <a:pt x="30434" y="1303066"/>
                  </a:cubicBezTo>
                  <a:cubicBezTo>
                    <a:pt x="10948" y="1283579"/>
                    <a:pt x="0" y="1257149"/>
                    <a:pt x="0" y="1229591"/>
                  </a:cubicBezTo>
                  <a:lnTo>
                    <a:pt x="0" y="103909"/>
                  </a:lnTo>
                  <a:cubicBezTo>
                    <a:pt x="0" y="76351"/>
                    <a:pt x="10948" y="49921"/>
                    <a:pt x="30434" y="30434"/>
                  </a:cubicBezTo>
                  <a:cubicBezTo>
                    <a:pt x="49921" y="10948"/>
                    <a:pt x="76351" y="0"/>
                    <a:pt x="103909" y="0"/>
                  </a:cubicBezTo>
                  <a:close/>
                </a:path>
              </a:pathLst>
            </a:custGeom>
            <a:solidFill>
              <a:srgbClr val="D9F7FB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2794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SHANK IMU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 flipV="true">
            <a:off x="4876800" y="3852228"/>
            <a:ext cx="0" cy="1162050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2" id="32"/>
          <p:cNvSpPr txBox="true"/>
          <p:nvPr/>
        </p:nvSpPr>
        <p:spPr>
          <a:xfrm rot="0">
            <a:off x="876300" y="9744075"/>
            <a:ext cx="31242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04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7045549" y="5143500"/>
            <a:ext cx="10213751" cy="4015978"/>
            <a:chOff x="0" y="0"/>
            <a:chExt cx="2690042" cy="105770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690042" cy="1057706"/>
            </a:xfrm>
            <a:custGeom>
              <a:avLst/>
              <a:gdLst/>
              <a:ahLst/>
              <a:cxnLst/>
              <a:rect r="r" b="b" t="t" l="l"/>
              <a:pathLst>
                <a:path h="1057706" w="2690042">
                  <a:moveTo>
                    <a:pt x="38657" y="0"/>
                  </a:moveTo>
                  <a:lnTo>
                    <a:pt x="2651384" y="0"/>
                  </a:lnTo>
                  <a:cubicBezTo>
                    <a:pt x="2661637" y="0"/>
                    <a:pt x="2671469" y="4073"/>
                    <a:pt x="2678719" y="11323"/>
                  </a:cubicBezTo>
                  <a:cubicBezTo>
                    <a:pt x="2685969" y="18572"/>
                    <a:pt x="2690042" y="28405"/>
                    <a:pt x="2690042" y="38657"/>
                  </a:cubicBezTo>
                  <a:lnTo>
                    <a:pt x="2690042" y="1019049"/>
                  </a:lnTo>
                  <a:cubicBezTo>
                    <a:pt x="2690042" y="1029301"/>
                    <a:pt x="2685969" y="1039134"/>
                    <a:pt x="2678719" y="1046384"/>
                  </a:cubicBezTo>
                  <a:cubicBezTo>
                    <a:pt x="2671469" y="1053633"/>
                    <a:pt x="2661637" y="1057706"/>
                    <a:pt x="2651384" y="1057706"/>
                  </a:cubicBezTo>
                  <a:lnTo>
                    <a:pt x="38657" y="1057706"/>
                  </a:lnTo>
                  <a:cubicBezTo>
                    <a:pt x="28405" y="1057706"/>
                    <a:pt x="18572" y="1053633"/>
                    <a:pt x="11323" y="1046384"/>
                  </a:cubicBezTo>
                  <a:cubicBezTo>
                    <a:pt x="4073" y="1039134"/>
                    <a:pt x="0" y="1029301"/>
                    <a:pt x="0" y="1019049"/>
                  </a:cubicBezTo>
                  <a:lnTo>
                    <a:pt x="0" y="38657"/>
                  </a:lnTo>
                  <a:cubicBezTo>
                    <a:pt x="0" y="28405"/>
                    <a:pt x="4073" y="18572"/>
                    <a:pt x="11323" y="11323"/>
                  </a:cubicBezTo>
                  <a:cubicBezTo>
                    <a:pt x="18572" y="4073"/>
                    <a:pt x="28405" y="0"/>
                    <a:pt x="38657" y="0"/>
                  </a:cubicBezTo>
                  <a:close/>
                </a:path>
              </a:pathLst>
            </a:custGeom>
            <a:solidFill>
              <a:srgbClr val="EAF6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2690042" cy="10958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69"/>
                </a:lnSpc>
              </a:pPr>
              <a:r>
                <a:rPr lang="en-US" sz="2049" b="true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Research Backed</a:t>
              </a: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Bytyqi et al. (2014):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Clinical diagnostic thresholds — sets the &lt;45^\circ 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peak swing flexion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risk trigger 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(healthy: 49° – 65° vs. OA: 41.9°)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stance extension deficit, and sagittal Range of Motion (ROM).</a:t>
              </a:r>
            </a:p>
            <a:p>
              <a:pPr algn="l">
                <a:lnSpc>
                  <a:spcPts val="2449"/>
                </a:lnSpc>
              </a:pP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Rhudy et al. (2024):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Core sensor fusion algorithm — provides the magnetometer-free 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complementary filter (α = 0.96 at 50 Hz)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and validates dynamic joint-angle tracking within 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RMSE ≤ 3.2°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.</a:t>
              </a:r>
            </a:p>
            <a:p>
              <a:pPr algn="l">
                <a:lnSpc>
                  <a:spcPts val="2449"/>
                </a:lnSpc>
              </a:pP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Song &amp; Baxter (2025)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Hardware placement &amp; validation baseline — dictates mounting the IMU to the 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anteromedial tibia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to eliminate muscle wobble, validating wearable IMUs against optical motion capture with</a:t>
              </a:r>
              <a:r>
                <a:rPr lang="en-US" b="true" sz="1749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Rxy ≥ 0.90 </a:t>
              </a:r>
              <a:r>
                <a:rPr lang="en-US" sz="174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correlation.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333375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HARDWARE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123825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 Hardware. Intelligent Processing.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716000" y="971550"/>
            <a:ext cx="3143250" cy="884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72"/>
              </a:lnSpc>
            </a:pPr>
            <a:r>
              <a:rPr lang="en-US" sz="6450" b="true">
                <a:solidFill>
                  <a:srgbClr val="1677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₹516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811250" y="1733550"/>
            <a:ext cx="2952750" cy="215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spc="152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PROTOTYPE COST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76300" y="2857500"/>
            <a:ext cx="3714750" cy="2095500"/>
            <a:chOff x="0" y="0"/>
            <a:chExt cx="4953000" cy="279400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4953000" cy="2794000"/>
              <a:chOff x="0" y="0"/>
              <a:chExt cx="4953000" cy="27940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4953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DFF8F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38100"/>
                <a:ext cx="4953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317500" y="317500"/>
              <a:ext cx="635000" cy="101600"/>
              <a:chOff x="0" y="0"/>
              <a:chExt cx="635000" cy="1016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35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635000">
                    <a:moveTo>
                      <a:pt x="0" y="0"/>
                    </a:moveTo>
                    <a:lnTo>
                      <a:pt x="635000" y="0"/>
                    </a:lnTo>
                    <a:lnTo>
                      <a:pt x="635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635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317500" y="835025"/>
              <a:ext cx="4445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ESP32 NodeMCU</a:t>
              </a:r>
            </a:p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Processing + BLE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972050" y="2857500"/>
            <a:ext cx="3714750" cy="2095500"/>
            <a:chOff x="0" y="0"/>
            <a:chExt cx="4953000" cy="27940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4953000" cy="2794000"/>
              <a:chOff x="0" y="0"/>
              <a:chExt cx="4953000" cy="27940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953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38100"/>
                <a:ext cx="4953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317500" y="317500"/>
              <a:ext cx="635000" cy="101600"/>
              <a:chOff x="0" y="0"/>
              <a:chExt cx="635000" cy="1016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5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635000">
                    <a:moveTo>
                      <a:pt x="0" y="0"/>
                    </a:moveTo>
                    <a:lnTo>
                      <a:pt x="635000" y="0"/>
                    </a:lnTo>
                    <a:lnTo>
                      <a:pt x="635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1677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5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317500" y="835025"/>
              <a:ext cx="4445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2 × MPU-6050</a:t>
              </a:r>
            </a:p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6-axis motion sensing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067800" y="2857500"/>
            <a:ext cx="3714750" cy="2095500"/>
            <a:chOff x="0" y="0"/>
            <a:chExt cx="4953000" cy="2794000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4953000" cy="2794000"/>
              <a:chOff x="0" y="0"/>
              <a:chExt cx="4953000" cy="27940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4953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38100"/>
                <a:ext cx="4953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317500" y="317500"/>
              <a:ext cx="635000" cy="101600"/>
              <a:chOff x="0" y="0"/>
              <a:chExt cx="635000" cy="1016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635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635000">
                    <a:moveTo>
                      <a:pt x="0" y="0"/>
                    </a:moveTo>
                    <a:lnTo>
                      <a:pt x="635000" y="0"/>
                    </a:lnTo>
                    <a:lnTo>
                      <a:pt x="635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1677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38100"/>
                <a:ext cx="635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317500" y="835025"/>
              <a:ext cx="4445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USB Power Bank</a:t>
              </a:r>
            </a:p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Portable power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3163550" y="2857500"/>
            <a:ext cx="3714750" cy="2095500"/>
            <a:chOff x="0" y="0"/>
            <a:chExt cx="4953000" cy="2794000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4953000" cy="2794000"/>
              <a:chOff x="0" y="0"/>
              <a:chExt cx="4953000" cy="27940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953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4953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317500" y="317500"/>
              <a:ext cx="635000" cy="101600"/>
              <a:chOff x="0" y="0"/>
              <a:chExt cx="635000" cy="1016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635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635000">
                    <a:moveTo>
                      <a:pt x="0" y="0"/>
                    </a:moveTo>
                    <a:lnTo>
                      <a:pt x="635000" y="0"/>
                    </a:lnTo>
                    <a:lnTo>
                      <a:pt x="635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1677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38100"/>
                <a:ext cx="635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317500" y="835025"/>
              <a:ext cx="4445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Elastic Bandage</a:t>
              </a:r>
            </a:p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Wearable mounting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76300" y="5667375"/>
            <a:ext cx="16535400" cy="1769746"/>
            <a:chOff x="0" y="0"/>
            <a:chExt cx="22047200" cy="2359661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2047200" cy="2359661"/>
              <a:chOff x="0" y="0"/>
              <a:chExt cx="22047200" cy="2359661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2047200" cy="2359661"/>
              </a:xfrm>
              <a:custGeom>
                <a:avLst/>
                <a:gdLst/>
                <a:ahLst/>
                <a:cxnLst/>
                <a:rect r="r" b="b" t="t" l="l"/>
                <a:pathLst>
                  <a:path h="2359661" w="22047200">
                    <a:moveTo>
                      <a:pt x="0" y="0"/>
                    </a:moveTo>
                    <a:lnTo>
                      <a:pt x="22047200" y="0"/>
                    </a:lnTo>
                    <a:lnTo>
                      <a:pt x="22047200" y="2359661"/>
                    </a:lnTo>
                    <a:lnTo>
                      <a:pt x="0" y="2359661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47625"/>
                <a:ext cx="22047200" cy="24072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23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279400"/>
              <a:ext cx="3175000" cy="472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4"/>
                </a:lnSpc>
              </a:pPr>
              <a:r>
                <a:rPr lang="en-US" sz="2174" spc="260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I²C BUS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0" y="1236346"/>
              <a:ext cx="20828000" cy="4787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71"/>
                </a:lnSpc>
              </a:pPr>
              <a:r>
                <a:rPr lang="en-US" sz="2274">
                  <a:solidFill>
                    <a:srgbClr val="092A4A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SDA → GPIO 21     SCL → GPIO 22     Thigh IMU → 0x68     Shank IMU → 0x69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76300" y="8020050"/>
            <a:ext cx="14287500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4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Cost democratization : capable sensing with components accesible by everyone.</a:t>
            </a:r>
          </a:p>
        </p:txBody>
      </p:sp>
      <p:sp>
        <p:nvSpPr>
          <p:cNvPr name="AutoShape 45" id="45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6" id="46"/>
          <p:cNvSpPr txBox="true"/>
          <p:nvPr/>
        </p:nvSpPr>
        <p:spPr>
          <a:xfrm rot="0">
            <a:off x="876300" y="9744075"/>
            <a:ext cx="310067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38100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SIGNAL FUSION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123825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Turning Raw Motion Into Knee Flexion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2714625"/>
            <a:ext cx="4953000" cy="2299970"/>
            <a:chOff x="0" y="0"/>
            <a:chExt cx="6604000" cy="3066627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604000" cy="3066627"/>
              <a:chOff x="0" y="0"/>
              <a:chExt cx="6604000" cy="3066627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604000" cy="3066627"/>
              </a:xfrm>
              <a:custGeom>
                <a:avLst/>
                <a:gdLst/>
                <a:ahLst/>
                <a:cxnLst/>
                <a:rect r="r" b="b" t="t" l="l"/>
                <a:pathLst>
                  <a:path h="3066627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3066627"/>
                    </a:lnTo>
                    <a:lnTo>
                      <a:pt x="0" y="3066627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6604000" cy="31142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317500" y="479425"/>
              <a:ext cx="5969000" cy="1261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01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ACCELEROMETER TILT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Orientation from acceleration</a:t>
              </a:r>
            </a:p>
          </p:txBody>
        </p:sp>
      </p:grpSp>
      <p:sp>
        <p:nvSpPr>
          <p:cNvPr name="AutoShape 9" id="9"/>
          <p:cNvSpPr/>
          <p:nvPr/>
        </p:nvSpPr>
        <p:spPr>
          <a:xfrm>
            <a:off x="6096000" y="3810000"/>
            <a:ext cx="523875" cy="0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6762750" y="2714625"/>
            <a:ext cx="4953000" cy="2299970"/>
            <a:chOff x="0" y="0"/>
            <a:chExt cx="6604000" cy="3066627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6604000" cy="3066627"/>
              <a:chOff x="0" y="0"/>
              <a:chExt cx="6604000" cy="306662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604000" cy="3066627"/>
              </a:xfrm>
              <a:custGeom>
                <a:avLst/>
                <a:gdLst/>
                <a:ahLst/>
                <a:cxnLst/>
                <a:rect r="r" b="b" t="t" l="l"/>
                <a:pathLst>
                  <a:path h="3066627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3066627"/>
                    </a:lnTo>
                    <a:lnTo>
                      <a:pt x="0" y="3066627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6604000" cy="31142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317500" y="479425"/>
              <a:ext cx="5969000" cy="1261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02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GYROSCOPE INTEGRATION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Dynamic rotation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>
            <a:off x="11811000" y="3810000"/>
            <a:ext cx="523875" cy="0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12477750" y="2714625"/>
            <a:ext cx="4953000" cy="2299970"/>
            <a:chOff x="0" y="0"/>
            <a:chExt cx="6604000" cy="3066627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6604000" cy="3066627"/>
              <a:chOff x="0" y="0"/>
              <a:chExt cx="6604000" cy="3066627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6604000" cy="3066627"/>
              </a:xfrm>
              <a:custGeom>
                <a:avLst/>
                <a:gdLst/>
                <a:ahLst/>
                <a:cxnLst/>
                <a:rect r="r" b="b" t="t" l="l"/>
                <a:pathLst>
                  <a:path h="3066627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3066627"/>
                    </a:lnTo>
                    <a:lnTo>
                      <a:pt x="0" y="3066627"/>
                    </a:lnTo>
                    <a:close/>
                  </a:path>
                </a:pathLst>
              </a:custGeom>
              <a:solidFill>
                <a:srgbClr val="DFF8F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47625"/>
                <a:ext cx="6604000" cy="31142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317500" y="479425"/>
              <a:ext cx="5969000" cy="1261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03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COMPLEMENTARY FILTER</a:t>
              </a:r>
            </a:p>
            <a:p>
              <a:pPr algn="ctr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Fused signal, reduced noise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47750" y="5810250"/>
            <a:ext cx="16192500" cy="2381250"/>
            <a:chOff x="0" y="0"/>
            <a:chExt cx="21590000" cy="3175000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21590000" cy="3175000"/>
              <a:chOff x="0" y="0"/>
              <a:chExt cx="21590000" cy="31750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590000" cy="3175000"/>
              </a:xfrm>
              <a:custGeom>
                <a:avLst/>
                <a:gdLst/>
                <a:ahLst/>
                <a:cxnLst/>
                <a:rect r="r" b="b" t="t" l="l"/>
                <a:pathLst>
                  <a:path h="31750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3175000"/>
                    </a:lnTo>
                    <a:lnTo>
                      <a:pt x="0" y="3175000"/>
                    </a:lnTo>
                    <a:close/>
                  </a:path>
                </a:pathLst>
              </a:custGeom>
              <a:solidFill>
                <a:srgbClr val="F5FB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21590000" cy="3213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635000" y="469900"/>
              <a:ext cx="203200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50"/>
                </a:lnSpc>
              </a:pPr>
              <a:r>
                <a:rPr lang="en-US" sz="3000">
                  <a:solidFill>
                    <a:srgbClr val="092A4A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θ(t) = 0.96 × θgyro(t) + 0.04 × θacc(t)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778000" y="1733550"/>
              <a:ext cx="18034000" cy="5511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77"/>
                </a:lnSpc>
              </a:pPr>
              <a:r>
                <a:rPr lang="en-US" sz="28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Knee Flexion = |θthigh − θshank|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524500" y="8201025"/>
            <a:ext cx="7239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 spc="179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50 Hz sampling     •     α = 0.96</a:t>
            </a:r>
          </a:p>
        </p:txBody>
      </p:sp>
      <p:sp>
        <p:nvSpPr>
          <p:cNvPr name="AutoShape 28" id="28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9" id="29"/>
          <p:cNvSpPr txBox="true"/>
          <p:nvPr/>
        </p:nvSpPr>
        <p:spPr>
          <a:xfrm rot="0">
            <a:off x="876300" y="9744075"/>
            <a:ext cx="315471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28575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EDGE AI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904875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Intelligence at the Edge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0" y="7534275"/>
            <a:ext cx="666750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21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Random Forest → portable C → ESP32 inference</a:t>
            </a:r>
          </a:p>
          <a:p>
            <a:pPr algn="l">
              <a:lnSpc>
                <a:spcPts val="2415"/>
              </a:lnSpc>
            </a:pPr>
            <a:r>
              <a:rPr lang="en-US" sz="21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 cloud dependency for core inference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47750" y="2571750"/>
            <a:ext cx="5810250" cy="838200"/>
            <a:chOff x="0" y="0"/>
            <a:chExt cx="7747000" cy="1117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747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7747000">
                  <a:moveTo>
                    <a:pt x="37475" y="0"/>
                  </a:moveTo>
                  <a:lnTo>
                    <a:pt x="7709525" y="0"/>
                  </a:lnTo>
                  <a:cubicBezTo>
                    <a:pt x="7719464" y="0"/>
                    <a:pt x="7728996" y="3948"/>
                    <a:pt x="7736024" y="10976"/>
                  </a:cubicBezTo>
                  <a:cubicBezTo>
                    <a:pt x="7743051" y="18004"/>
                    <a:pt x="7747000" y="27536"/>
                    <a:pt x="7747000" y="37475"/>
                  </a:cubicBezTo>
                  <a:lnTo>
                    <a:pt x="7747000" y="1080125"/>
                  </a:lnTo>
                  <a:cubicBezTo>
                    <a:pt x="7747000" y="1090064"/>
                    <a:pt x="7743051" y="1099596"/>
                    <a:pt x="7736024" y="1106624"/>
                  </a:cubicBezTo>
                  <a:cubicBezTo>
                    <a:pt x="7728996" y="1113652"/>
                    <a:pt x="7719464" y="1117600"/>
                    <a:pt x="7709525" y="1117600"/>
                  </a:cubicBezTo>
                  <a:lnTo>
                    <a:pt x="37475" y="1117600"/>
                  </a:lnTo>
                  <a:cubicBezTo>
                    <a:pt x="27536" y="1117600"/>
                    <a:pt x="18004" y="1113652"/>
                    <a:pt x="10976" y="1106624"/>
                  </a:cubicBezTo>
                  <a:cubicBezTo>
                    <a:pt x="3948" y="1099596"/>
                    <a:pt x="0" y="1090064"/>
                    <a:pt x="0" y="1080125"/>
                  </a:cubicBezTo>
                  <a:lnTo>
                    <a:pt x="0" y="37475"/>
                  </a:lnTo>
                  <a:cubicBezTo>
                    <a:pt x="0" y="27536"/>
                    <a:pt x="3948" y="18004"/>
                    <a:pt x="10976" y="10976"/>
                  </a:cubicBezTo>
                  <a:cubicBezTo>
                    <a:pt x="18004" y="3948"/>
                    <a:pt x="27536" y="0"/>
                    <a:pt x="3747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7747000" cy="115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RAW 50 Hz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MOTION DATA</a:t>
              </a:r>
            </a:p>
          </p:txBody>
        </p:sp>
      </p:grpSp>
      <p:sp>
        <p:nvSpPr>
          <p:cNvPr name="AutoShape 8" id="8"/>
          <p:cNvSpPr/>
          <p:nvPr/>
        </p:nvSpPr>
        <p:spPr>
          <a:xfrm>
            <a:off x="3952875" y="3429000"/>
            <a:ext cx="0" cy="352425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047750" y="3857625"/>
            <a:ext cx="5810250" cy="838200"/>
            <a:chOff x="0" y="0"/>
            <a:chExt cx="7747000" cy="1117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47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7747000">
                  <a:moveTo>
                    <a:pt x="37475" y="0"/>
                  </a:moveTo>
                  <a:lnTo>
                    <a:pt x="7709525" y="0"/>
                  </a:lnTo>
                  <a:cubicBezTo>
                    <a:pt x="7719464" y="0"/>
                    <a:pt x="7728996" y="3948"/>
                    <a:pt x="7736024" y="10976"/>
                  </a:cubicBezTo>
                  <a:cubicBezTo>
                    <a:pt x="7743051" y="18004"/>
                    <a:pt x="7747000" y="27536"/>
                    <a:pt x="7747000" y="37475"/>
                  </a:cubicBezTo>
                  <a:lnTo>
                    <a:pt x="7747000" y="1080125"/>
                  </a:lnTo>
                  <a:cubicBezTo>
                    <a:pt x="7747000" y="1090064"/>
                    <a:pt x="7743051" y="1099596"/>
                    <a:pt x="7736024" y="1106624"/>
                  </a:cubicBezTo>
                  <a:cubicBezTo>
                    <a:pt x="7728996" y="1113652"/>
                    <a:pt x="7719464" y="1117600"/>
                    <a:pt x="7709525" y="1117600"/>
                  </a:cubicBezTo>
                  <a:lnTo>
                    <a:pt x="37475" y="1117600"/>
                  </a:lnTo>
                  <a:cubicBezTo>
                    <a:pt x="27536" y="1117600"/>
                    <a:pt x="18004" y="1113652"/>
                    <a:pt x="10976" y="1106624"/>
                  </a:cubicBezTo>
                  <a:cubicBezTo>
                    <a:pt x="3948" y="1099596"/>
                    <a:pt x="0" y="1090064"/>
                    <a:pt x="0" y="1080125"/>
                  </a:cubicBezTo>
                  <a:lnTo>
                    <a:pt x="0" y="37475"/>
                  </a:lnTo>
                  <a:cubicBezTo>
                    <a:pt x="0" y="27536"/>
                    <a:pt x="3948" y="18004"/>
                    <a:pt x="10976" y="10976"/>
                  </a:cubicBezTo>
                  <a:cubicBezTo>
                    <a:pt x="18004" y="3948"/>
                    <a:pt x="27536" y="0"/>
                    <a:pt x="3747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747000" cy="115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STRIDE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SEGMENTATION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>
            <a:off x="3952875" y="4714875"/>
            <a:ext cx="0" cy="352425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047750" y="5143500"/>
            <a:ext cx="5810250" cy="838200"/>
            <a:chOff x="0" y="0"/>
            <a:chExt cx="7747000" cy="1117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747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7747000">
                  <a:moveTo>
                    <a:pt x="37475" y="0"/>
                  </a:moveTo>
                  <a:lnTo>
                    <a:pt x="7709525" y="0"/>
                  </a:lnTo>
                  <a:cubicBezTo>
                    <a:pt x="7719464" y="0"/>
                    <a:pt x="7728996" y="3948"/>
                    <a:pt x="7736024" y="10976"/>
                  </a:cubicBezTo>
                  <a:cubicBezTo>
                    <a:pt x="7743051" y="18004"/>
                    <a:pt x="7747000" y="27536"/>
                    <a:pt x="7747000" y="37475"/>
                  </a:cubicBezTo>
                  <a:lnTo>
                    <a:pt x="7747000" y="1080125"/>
                  </a:lnTo>
                  <a:cubicBezTo>
                    <a:pt x="7747000" y="1090064"/>
                    <a:pt x="7743051" y="1099596"/>
                    <a:pt x="7736024" y="1106624"/>
                  </a:cubicBezTo>
                  <a:cubicBezTo>
                    <a:pt x="7728996" y="1113652"/>
                    <a:pt x="7719464" y="1117600"/>
                    <a:pt x="7709525" y="1117600"/>
                  </a:cubicBezTo>
                  <a:lnTo>
                    <a:pt x="37475" y="1117600"/>
                  </a:lnTo>
                  <a:cubicBezTo>
                    <a:pt x="27536" y="1117600"/>
                    <a:pt x="18004" y="1113652"/>
                    <a:pt x="10976" y="1106624"/>
                  </a:cubicBezTo>
                  <a:cubicBezTo>
                    <a:pt x="3948" y="1099596"/>
                    <a:pt x="0" y="1090064"/>
                    <a:pt x="0" y="1080125"/>
                  </a:cubicBezTo>
                  <a:lnTo>
                    <a:pt x="0" y="37475"/>
                  </a:lnTo>
                  <a:cubicBezTo>
                    <a:pt x="0" y="27536"/>
                    <a:pt x="3948" y="18004"/>
                    <a:pt x="10976" y="10976"/>
                  </a:cubicBezTo>
                  <a:cubicBezTo>
                    <a:pt x="18004" y="3948"/>
                    <a:pt x="27536" y="0"/>
                    <a:pt x="3747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747000" cy="115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GAIT FEATURE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EXTRACTION</a:t>
              </a:r>
            </a:p>
          </p:txBody>
        </p:sp>
      </p:grpSp>
      <p:sp>
        <p:nvSpPr>
          <p:cNvPr name="AutoShape 16" id="16"/>
          <p:cNvSpPr/>
          <p:nvPr/>
        </p:nvSpPr>
        <p:spPr>
          <a:xfrm>
            <a:off x="3952875" y="6000750"/>
            <a:ext cx="0" cy="352425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0">
            <a:off x="1047750" y="6429375"/>
            <a:ext cx="5810250" cy="838200"/>
            <a:chOff x="0" y="0"/>
            <a:chExt cx="7747000" cy="1117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747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7747000">
                  <a:moveTo>
                    <a:pt x="37475" y="0"/>
                  </a:moveTo>
                  <a:lnTo>
                    <a:pt x="7709525" y="0"/>
                  </a:lnTo>
                  <a:cubicBezTo>
                    <a:pt x="7719464" y="0"/>
                    <a:pt x="7728996" y="3948"/>
                    <a:pt x="7736024" y="10976"/>
                  </a:cubicBezTo>
                  <a:cubicBezTo>
                    <a:pt x="7743051" y="18004"/>
                    <a:pt x="7747000" y="27536"/>
                    <a:pt x="7747000" y="37475"/>
                  </a:cubicBezTo>
                  <a:lnTo>
                    <a:pt x="7747000" y="1080125"/>
                  </a:lnTo>
                  <a:cubicBezTo>
                    <a:pt x="7747000" y="1090064"/>
                    <a:pt x="7743051" y="1099596"/>
                    <a:pt x="7736024" y="1106624"/>
                  </a:cubicBezTo>
                  <a:cubicBezTo>
                    <a:pt x="7728996" y="1113652"/>
                    <a:pt x="7719464" y="1117600"/>
                    <a:pt x="7709525" y="1117600"/>
                  </a:cubicBezTo>
                  <a:lnTo>
                    <a:pt x="37475" y="1117600"/>
                  </a:lnTo>
                  <a:cubicBezTo>
                    <a:pt x="27536" y="1117600"/>
                    <a:pt x="18004" y="1113652"/>
                    <a:pt x="10976" y="1106624"/>
                  </a:cubicBezTo>
                  <a:cubicBezTo>
                    <a:pt x="3948" y="1099596"/>
                    <a:pt x="0" y="1090064"/>
                    <a:pt x="0" y="1080125"/>
                  </a:cubicBezTo>
                  <a:lnTo>
                    <a:pt x="0" y="37475"/>
                  </a:lnTo>
                  <a:cubicBezTo>
                    <a:pt x="0" y="27536"/>
                    <a:pt x="3948" y="18004"/>
                    <a:pt x="10976" y="10976"/>
                  </a:cubicBezTo>
                  <a:cubicBezTo>
                    <a:pt x="18004" y="3948"/>
                    <a:pt x="27536" y="0"/>
                    <a:pt x="3747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747000" cy="115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RANDOM FOREST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CLASSIFICATION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3952875" y="7286625"/>
            <a:ext cx="0" cy="352425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047750" y="7715250"/>
            <a:ext cx="5810250" cy="838200"/>
            <a:chOff x="0" y="0"/>
            <a:chExt cx="7747000" cy="1117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47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7747000">
                  <a:moveTo>
                    <a:pt x="37475" y="0"/>
                  </a:moveTo>
                  <a:lnTo>
                    <a:pt x="7709525" y="0"/>
                  </a:lnTo>
                  <a:cubicBezTo>
                    <a:pt x="7719464" y="0"/>
                    <a:pt x="7728996" y="3948"/>
                    <a:pt x="7736024" y="10976"/>
                  </a:cubicBezTo>
                  <a:cubicBezTo>
                    <a:pt x="7743051" y="18004"/>
                    <a:pt x="7747000" y="27536"/>
                    <a:pt x="7747000" y="37475"/>
                  </a:cubicBezTo>
                  <a:lnTo>
                    <a:pt x="7747000" y="1080125"/>
                  </a:lnTo>
                  <a:cubicBezTo>
                    <a:pt x="7747000" y="1090064"/>
                    <a:pt x="7743051" y="1099596"/>
                    <a:pt x="7736024" y="1106624"/>
                  </a:cubicBezTo>
                  <a:cubicBezTo>
                    <a:pt x="7728996" y="1113652"/>
                    <a:pt x="7719464" y="1117600"/>
                    <a:pt x="7709525" y="1117600"/>
                  </a:cubicBezTo>
                  <a:lnTo>
                    <a:pt x="37475" y="1117600"/>
                  </a:lnTo>
                  <a:cubicBezTo>
                    <a:pt x="27536" y="1117600"/>
                    <a:pt x="18004" y="1113652"/>
                    <a:pt x="10976" y="1106624"/>
                  </a:cubicBezTo>
                  <a:cubicBezTo>
                    <a:pt x="3948" y="1099596"/>
                    <a:pt x="0" y="1090064"/>
                    <a:pt x="0" y="1080125"/>
                  </a:cubicBezTo>
                  <a:lnTo>
                    <a:pt x="0" y="37475"/>
                  </a:lnTo>
                  <a:cubicBezTo>
                    <a:pt x="0" y="27536"/>
                    <a:pt x="3948" y="18004"/>
                    <a:pt x="10976" y="10976"/>
                  </a:cubicBezTo>
                  <a:cubicBezTo>
                    <a:pt x="18004" y="3948"/>
                    <a:pt x="27536" y="0"/>
                    <a:pt x="37475" y="0"/>
                  </a:cubicBezTo>
                  <a:close/>
                </a:path>
              </a:pathLst>
            </a:custGeom>
            <a:solidFill>
              <a:srgbClr val="D9F7FB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747000" cy="115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ON-DEVICE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INFERENCE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096250" y="2857500"/>
            <a:ext cx="3905250" cy="1619250"/>
            <a:chOff x="0" y="0"/>
            <a:chExt cx="5207000" cy="215900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5207000" cy="2159000"/>
              <a:chOff x="0" y="0"/>
              <a:chExt cx="5207000" cy="21590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207000" cy="2159000"/>
              </a:xfrm>
              <a:custGeom>
                <a:avLst/>
                <a:gdLst/>
                <a:ahLst/>
                <a:cxnLst/>
                <a:rect r="r" b="b" t="t" l="l"/>
                <a:pathLst>
                  <a:path h="2159000" w="5207000">
                    <a:moveTo>
                      <a:pt x="0" y="0"/>
                    </a:moveTo>
                    <a:lnTo>
                      <a:pt x="5207000" y="0"/>
                    </a:lnTo>
                    <a:lnTo>
                      <a:pt x="5207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5207000" cy="2197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355600" y="542925"/>
              <a:ext cx="4318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Peak Swing</a:t>
              </a:r>
            </a:p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Flexion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430125" y="2857500"/>
            <a:ext cx="3905250" cy="1619250"/>
            <a:chOff x="0" y="0"/>
            <a:chExt cx="5207000" cy="21590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5207000" cy="2159000"/>
              <a:chOff x="0" y="0"/>
              <a:chExt cx="5207000" cy="21590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5207000" cy="2159000"/>
              </a:xfrm>
              <a:custGeom>
                <a:avLst/>
                <a:gdLst/>
                <a:ahLst/>
                <a:cxnLst/>
                <a:rect r="r" b="b" t="t" l="l"/>
                <a:pathLst>
                  <a:path h="2159000" w="5207000">
                    <a:moveTo>
                      <a:pt x="0" y="0"/>
                    </a:moveTo>
                    <a:lnTo>
                      <a:pt x="5207000" y="0"/>
                    </a:lnTo>
                    <a:lnTo>
                      <a:pt x="5207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38100"/>
                <a:ext cx="5207000" cy="2197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355600" y="542925"/>
              <a:ext cx="4318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Flexion Range</a:t>
              </a:r>
            </a:p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of Motion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096250" y="4953000"/>
            <a:ext cx="3905250" cy="1619250"/>
            <a:chOff x="0" y="0"/>
            <a:chExt cx="5207000" cy="2159000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5207000" cy="2159000"/>
              <a:chOff x="0" y="0"/>
              <a:chExt cx="5207000" cy="21590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5207000" cy="2159000"/>
              </a:xfrm>
              <a:custGeom>
                <a:avLst/>
                <a:gdLst/>
                <a:ahLst/>
                <a:cxnLst/>
                <a:rect r="r" b="b" t="t" l="l"/>
                <a:pathLst>
                  <a:path h="2159000" w="5207000">
                    <a:moveTo>
                      <a:pt x="0" y="0"/>
                    </a:moveTo>
                    <a:lnTo>
                      <a:pt x="5207000" y="0"/>
                    </a:lnTo>
                    <a:lnTo>
                      <a:pt x="5207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38100"/>
                <a:ext cx="5207000" cy="2197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355600" y="542925"/>
              <a:ext cx="4318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Stance / Swing</a:t>
              </a:r>
            </a:p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Ratio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430125" y="4953000"/>
            <a:ext cx="3905250" cy="1619250"/>
            <a:chOff x="0" y="0"/>
            <a:chExt cx="5207000" cy="2159000"/>
          </a:xfrm>
        </p:grpSpPr>
        <p:grpSp>
          <p:nvGrpSpPr>
            <p:cNvPr name="Group 40" id="40"/>
            <p:cNvGrpSpPr/>
            <p:nvPr/>
          </p:nvGrpSpPr>
          <p:grpSpPr>
            <a:xfrm rot="0">
              <a:off x="0" y="0"/>
              <a:ext cx="5207000" cy="2159000"/>
              <a:chOff x="0" y="0"/>
              <a:chExt cx="5207000" cy="215900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5207000" cy="2159000"/>
              </a:xfrm>
              <a:custGeom>
                <a:avLst/>
                <a:gdLst/>
                <a:ahLst/>
                <a:cxnLst/>
                <a:rect r="r" b="b" t="t" l="l"/>
                <a:pathLst>
                  <a:path h="2159000" w="5207000">
                    <a:moveTo>
                      <a:pt x="0" y="0"/>
                    </a:moveTo>
                    <a:lnTo>
                      <a:pt x="5207000" y="0"/>
                    </a:lnTo>
                    <a:lnTo>
                      <a:pt x="5207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38100"/>
                <a:ext cx="5207000" cy="2197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43" id="43"/>
            <p:cNvSpPr txBox="true"/>
            <p:nvPr/>
          </p:nvSpPr>
          <p:spPr>
            <a:xfrm rot="0">
              <a:off x="355600" y="542925"/>
              <a:ext cx="4318000" cy="717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Mean Angular</a:t>
              </a:r>
            </a:p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Velocity</a:t>
              </a:r>
            </a:p>
          </p:txBody>
        </p:sp>
      </p:grpSp>
      <p:sp>
        <p:nvSpPr>
          <p:cNvPr name="AutoShape 44" id="44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5" id="45"/>
          <p:cNvSpPr txBox="true"/>
          <p:nvPr/>
        </p:nvSpPr>
        <p:spPr>
          <a:xfrm rot="0">
            <a:off x="876300" y="9744075"/>
            <a:ext cx="3076575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485775"/>
            <a:ext cx="38100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LIVE EXPERIENCE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085850"/>
            <a:ext cx="95250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See the Gait. In Real Time.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239750" y="714375"/>
            <a:ext cx="4095750" cy="215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784"/>
              </a:lnSpc>
            </a:pPr>
            <a:r>
              <a:rPr lang="en-US" b="true" sz="1275" spc="152">
                <a:solidFill>
                  <a:srgbClr val="18A99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● CONNECTED  /  WEB BLUETOOTH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47750" y="2714625"/>
            <a:ext cx="3476625" cy="2095500"/>
            <a:chOff x="0" y="0"/>
            <a:chExt cx="4635500" cy="2794000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4572000" cy="2794000"/>
              <a:chOff x="0" y="0"/>
              <a:chExt cx="4572000" cy="27940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572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572000">
                    <a:moveTo>
                      <a:pt x="0" y="0"/>
                    </a:moveTo>
                    <a:lnTo>
                      <a:pt x="4572000" y="0"/>
                    </a:lnTo>
                    <a:lnTo>
                      <a:pt x="4572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572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444500" y="647700"/>
              <a:ext cx="38100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42.8°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44500" y="1685925"/>
              <a:ext cx="4191000" cy="2774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84"/>
                </a:lnSpc>
              </a:pPr>
              <a:r>
                <a:rPr lang="en-US" sz="1275" spc="152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DYNAMIC KNEE FLEXION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857750" y="2714625"/>
            <a:ext cx="3476625" cy="2095500"/>
            <a:chOff x="0" y="0"/>
            <a:chExt cx="4635500" cy="279400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4572000" cy="2794000"/>
              <a:chOff x="0" y="0"/>
              <a:chExt cx="4572000" cy="27940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572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572000">
                    <a:moveTo>
                      <a:pt x="0" y="0"/>
                    </a:moveTo>
                    <a:lnTo>
                      <a:pt x="4572000" y="0"/>
                    </a:lnTo>
                    <a:lnTo>
                      <a:pt x="4572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E7FBF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4572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444500" y="647700"/>
              <a:ext cx="38100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58.4°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444500" y="1685925"/>
              <a:ext cx="4191000" cy="2774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84"/>
                </a:lnSpc>
              </a:pPr>
              <a:r>
                <a:rPr lang="en-US" sz="1275" spc="152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PEAK SWING FLEXION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96750" y="2714625"/>
            <a:ext cx="4762500" cy="2095500"/>
            <a:chOff x="0" y="0"/>
            <a:chExt cx="6350000" cy="2794000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6350000" cy="2794000"/>
              <a:chOff x="0" y="0"/>
              <a:chExt cx="6350000" cy="27940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50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F8FB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50000" cy="283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08000" y="581025"/>
              <a:ext cx="5461000" cy="10731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Clinical Evaluation Status</a:t>
              </a:r>
            </a:p>
            <a:p>
              <a:pPr algn="l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Screening view — research prototype</a:t>
              </a:r>
            </a:p>
          </p:txBody>
        </p:sp>
      </p:grpSp>
      <p:pic>
        <p:nvPicPr>
          <p:cNvPr name="Picture 22" id="2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400921" y="3790903"/>
            <a:ext cx="18708842" cy="5943694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876300" y="8696325"/>
            <a:ext cx="762000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Illustrative UI examples; not patient results.</a:t>
            </a:r>
          </a:p>
        </p:txBody>
      </p:sp>
      <p:sp>
        <p:nvSpPr>
          <p:cNvPr name="AutoShape 24" id="24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876300" y="9744075"/>
            <a:ext cx="315471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39000" y="2095500"/>
            <a:ext cx="9906000" cy="4762500"/>
          </a:xfrm>
          <a:custGeom>
            <a:avLst/>
            <a:gdLst/>
            <a:ahLst/>
            <a:cxnLst/>
            <a:rect r="r" b="b" t="t" l="l"/>
            <a:pathLst>
              <a:path h="4762500" w="9906000">
                <a:moveTo>
                  <a:pt x="0" y="0"/>
                </a:moveTo>
                <a:lnTo>
                  <a:pt x="9906000" y="0"/>
                </a:lnTo>
                <a:lnTo>
                  <a:pt x="9906000" y="4762500"/>
                </a:lnTo>
                <a:lnTo>
                  <a:pt x="0" y="4762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0" t="0" r="-8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876300" y="581025"/>
            <a:ext cx="49530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BIOMECHANICAL CONTEXT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6300" y="1200150"/>
            <a:ext cx="95250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From Movement to Meaning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6300" y="2933700"/>
            <a:ext cx="5334000" cy="806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42"/>
              </a:lnSpc>
            </a:pPr>
            <a:r>
              <a:rPr lang="en-US" sz="5850" b="true">
                <a:solidFill>
                  <a:srgbClr val="1677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≈ 55°–65°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6300" y="3771900"/>
            <a:ext cx="4953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Healthy peak swing flexion reference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6300" y="5029200"/>
            <a:ext cx="2857500" cy="664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18"/>
              </a:lnSpc>
            </a:pPr>
            <a:r>
              <a:rPr lang="en-US" sz="4875" b="true">
                <a:solidFill>
                  <a:srgbClr val="18A99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&lt;45°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5676900"/>
            <a:ext cx="533400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Screening indicator for stiff-gait risk — not a diagnosis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620000" y="7067550"/>
            <a:ext cx="8858250" cy="215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 spc="152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STANCE          TOE-OFF          MID-SWING          HEEL STRIKE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047750" y="8001000"/>
            <a:ext cx="16192500" cy="1047750"/>
            <a:chOff x="0" y="0"/>
            <a:chExt cx="21590000" cy="1397000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21590000" cy="1397000"/>
              <a:chOff x="0" y="0"/>
              <a:chExt cx="21590000" cy="13970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21590000" cy="1397000"/>
              </a:xfrm>
              <a:custGeom>
                <a:avLst/>
                <a:gdLst/>
                <a:ahLst/>
                <a:cxnLst/>
                <a:rect r="r" b="b" t="t" l="l"/>
                <a:pathLst>
                  <a:path h="13970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397000"/>
                    </a:lnTo>
                    <a:lnTo>
                      <a:pt x="0" y="1397000"/>
                    </a:lnTo>
                    <a:close/>
                  </a:path>
                </a:pathLst>
              </a:custGeom>
              <a:solidFill>
                <a:srgbClr val="FFF7E8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21590000" cy="143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762000" y="454025"/>
              <a:ext cx="20066000" cy="361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56"/>
                </a:lnSpc>
              </a:pPr>
              <a:r>
                <a:rPr lang="en-US" sz="187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KneeGait-Edge is a research/hackathon prototype and is not intended to provide a medical diagnosis.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6" id="16"/>
          <p:cNvSpPr txBox="true"/>
          <p:nvPr/>
        </p:nvSpPr>
        <p:spPr>
          <a:xfrm rot="0">
            <a:off x="876300" y="9744075"/>
            <a:ext cx="312769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333375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ACCESSIBILITY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1047750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Democratizing Gait Intelligence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76300" y="2333625"/>
            <a:ext cx="6858000" cy="2857500"/>
            <a:chOff x="0" y="0"/>
            <a:chExt cx="9144000" cy="3810000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144000" cy="3810000"/>
              <a:chOff x="0" y="0"/>
              <a:chExt cx="9144000" cy="38100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144000" cy="3810000"/>
              </a:xfrm>
              <a:custGeom>
                <a:avLst/>
                <a:gdLst/>
                <a:ahLst/>
                <a:cxnLst/>
                <a:rect r="r" b="b" t="t" l="l"/>
                <a:pathLst>
                  <a:path h="3810000" w="9144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3810000"/>
                    </a:lnTo>
                    <a:lnTo>
                      <a:pt x="0" y="3810000"/>
                    </a:lnTo>
                    <a:close/>
                  </a:path>
                </a:pathLst>
              </a:custGeom>
              <a:solidFill>
                <a:srgbClr val="EAF6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9144000" cy="3848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0" y="444500"/>
              <a:ext cx="8890000" cy="2393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87"/>
                </a:lnSpc>
              </a:pPr>
              <a:r>
                <a:rPr lang="en-US" sz="12750" b="true">
                  <a:solidFill>
                    <a:srgbClr val="1677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₹516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228600" y="2819400"/>
              <a:ext cx="8890000" cy="3530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 spc="189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PROTOTYPE OUT-OF-POCKET COST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191500" y="2619375"/>
            <a:ext cx="3810000" cy="1381125"/>
            <a:chOff x="0" y="0"/>
            <a:chExt cx="5080000" cy="18415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80000" cy="1841500"/>
            </a:xfrm>
            <a:custGeom>
              <a:avLst/>
              <a:gdLst/>
              <a:ahLst/>
              <a:cxnLst/>
              <a:rect r="r" b="b" t="t" l="l"/>
              <a:pathLst>
                <a:path h="1841500" w="5080000">
                  <a:moveTo>
                    <a:pt x="57150" y="0"/>
                  </a:moveTo>
                  <a:lnTo>
                    <a:pt x="5022850" y="0"/>
                  </a:lnTo>
                  <a:cubicBezTo>
                    <a:pt x="5054413" y="0"/>
                    <a:pt x="5080000" y="25587"/>
                    <a:pt x="5080000" y="57150"/>
                  </a:cubicBezTo>
                  <a:lnTo>
                    <a:pt x="5080000" y="1784350"/>
                  </a:lnTo>
                  <a:cubicBezTo>
                    <a:pt x="5080000" y="1815913"/>
                    <a:pt x="5054413" y="1841500"/>
                    <a:pt x="5022850" y="1841500"/>
                  </a:cubicBezTo>
                  <a:lnTo>
                    <a:pt x="57150" y="1841500"/>
                  </a:lnTo>
                  <a:cubicBezTo>
                    <a:pt x="25587" y="1841500"/>
                    <a:pt x="0" y="1815913"/>
                    <a:pt x="0" y="1784350"/>
                  </a:cubicBez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F8FB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080000" cy="187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EXPENSIVE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INFRASTRUCTURE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525375" y="2619375"/>
            <a:ext cx="3810000" cy="1381125"/>
            <a:chOff x="0" y="0"/>
            <a:chExt cx="5080000" cy="18415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1841500"/>
            </a:xfrm>
            <a:custGeom>
              <a:avLst/>
              <a:gdLst/>
              <a:ahLst/>
              <a:cxnLst/>
              <a:rect r="r" b="b" t="t" l="l"/>
              <a:pathLst>
                <a:path h="1841500" w="5080000">
                  <a:moveTo>
                    <a:pt x="57150" y="0"/>
                  </a:moveTo>
                  <a:lnTo>
                    <a:pt x="5022850" y="0"/>
                  </a:lnTo>
                  <a:cubicBezTo>
                    <a:pt x="5054413" y="0"/>
                    <a:pt x="5080000" y="25587"/>
                    <a:pt x="5080000" y="57150"/>
                  </a:cubicBezTo>
                  <a:lnTo>
                    <a:pt x="5080000" y="1784350"/>
                  </a:lnTo>
                  <a:cubicBezTo>
                    <a:pt x="5080000" y="1815913"/>
                    <a:pt x="5054413" y="1841500"/>
                    <a:pt x="5022850" y="1841500"/>
                  </a:cubicBezTo>
                  <a:lnTo>
                    <a:pt x="57150" y="1841500"/>
                  </a:lnTo>
                  <a:cubicBezTo>
                    <a:pt x="25587" y="1841500"/>
                    <a:pt x="0" y="1815913"/>
                    <a:pt x="0" y="1784350"/>
                  </a:cubicBez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F8FB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080000" cy="187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PORTABLE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SENSING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191500" y="4714875"/>
            <a:ext cx="3810000" cy="1381125"/>
            <a:chOff x="0" y="0"/>
            <a:chExt cx="5080000" cy="18415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80000" cy="1841500"/>
            </a:xfrm>
            <a:custGeom>
              <a:avLst/>
              <a:gdLst/>
              <a:ahLst/>
              <a:cxnLst/>
              <a:rect r="r" b="b" t="t" l="l"/>
              <a:pathLst>
                <a:path h="1841500" w="5080000">
                  <a:moveTo>
                    <a:pt x="57150" y="0"/>
                  </a:moveTo>
                  <a:lnTo>
                    <a:pt x="5022850" y="0"/>
                  </a:lnTo>
                  <a:cubicBezTo>
                    <a:pt x="5054413" y="0"/>
                    <a:pt x="5080000" y="25587"/>
                    <a:pt x="5080000" y="57150"/>
                  </a:cubicBezTo>
                  <a:lnTo>
                    <a:pt x="5080000" y="1784350"/>
                  </a:lnTo>
                  <a:cubicBezTo>
                    <a:pt x="5080000" y="1815913"/>
                    <a:pt x="5054413" y="1841500"/>
                    <a:pt x="5022850" y="1841500"/>
                  </a:cubicBezTo>
                  <a:lnTo>
                    <a:pt x="57150" y="1841500"/>
                  </a:lnTo>
                  <a:cubicBezTo>
                    <a:pt x="25587" y="1841500"/>
                    <a:pt x="0" y="1815913"/>
                    <a:pt x="0" y="1784350"/>
                  </a:cubicBez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F8FB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080000" cy="187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EDGE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COMPUTATION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525375" y="4714875"/>
            <a:ext cx="3810000" cy="1381125"/>
            <a:chOff x="0" y="0"/>
            <a:chExt cx="5080000" cy="18415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080000" cy="1841500"/>
            </a:xfrm>
            <a:custGeom>
              <a:avLst/>
              <a:gdLst/>
              <a:ahLst/>
              <a:cxnLst/>
              <a:rect r="r" b="b" t="t" l="l"/>
              <a:pathLst>
                <a:path h="1841500" w="5080000">
                  <a:moveTo>
                    <a:pt x="57150" y="0"/>
                  </a:moveTo>
                  <a:lnTo>
                    <a:pt x="5022850" y="0"/>
                  </a:lnTo>
                  <a:cubicBezTo>
                    <a:pt x="5054413" y="0"/>
                    <a:pt x="5080000" y="25587"/>
                    <a:pt x="5080000" y="57150"/>
                  </a:cubicBezTo>
                  <a:lnTo>
                    <a:pt x="5080000" y="1784350"/>
                  </a:lnTo>
                  <a:cubicBezTo>
                    <a:pt x="5080000" y="1815913"/>
                    <a:pt x="5054413" y="1841500"/>
                    <a:pt x="5022850" y="1841500"/>
                  </a:cubicBezTo>
                  <a:lnTo>
                    <a:pt x="57150" y="1841500"/>
                  </a:lnTo>
                  <a:cubicBezTo>
                    <a:pt x="25587" y="1841500"/>
                    <a:pt x="0" y="1815913"/>
                    <a:pt x="0" y="1784350"/>
                  </a:cubicBez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D9F7FB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5080000" cy="187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ACCESSIBLE GAIT</a:t>
              </a:r>
            </a:p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INTELLIGENCE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876300" y="6915150"/>
            <a:ext cx="16192500" cy="347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074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Low-cost components  •  Wearable form  •  ESP32 edge processing  •  BLE  •  Browser visualization  •  No dashboard backend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76300" y="8105775"/>
            <a:ext cx="14287500" cy="3881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8"/>
              </a:lnSpc>
            </a:pPr>
            <a:r>
              <a:rPr lang="en-US" sz="2625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Advanced gait insights shouldn’t require advanced infrastructure.</a:t>
            </a:r>
          </a:p>
        </p:txBody>
      </p:sp>
      <p:sp>
        <p:nvSpPr>
          <p:cNvPr name="AutoShape 24" id="24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876300" y="9744075"/>
            <a:ext cx="315471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28575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190625"/>
            <a:ext cx="14668500" cy="534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1"/>
              </a:lnSpc>
            </a:pPr>
            <a:r>
              <a:rPr lang="en-US" sz="3825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From Hackathon Prototype to Scalable Gait Intelligence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76300" y="2619375"/>
            <a:ext cx="4953000" cy="3561715"/>
            <a:chOff x="0" y="0"/>
            <a:chExt cx="6604000" cy="4748954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604000" cy="4748954"/>
              <a:chOff x="0" y="0"/>
              <a:chExt cx="6604000" cy="4748954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604000" cy="4748954"/>
              </a:xfrm>
              <a:custGeom>
                <a:avLst/>
                <a:gdLst/>
                <a:ahLst/>
                <a:cxnLst/>
                <a:rect r="r" b="b" t="t" l="l"/>
                <a:pathLst>
                  <a:path h="4748954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4748954"/>
                    </a:lnTo>
                    <a:lnTo>
                      <a:pt x="0" y="4748954"/>
                    </a:lnTo>
                    <a:close/>
                  </a:path>
                </a:pathLst>
              </a:custGeom>
              <a:solidFill>
                <a:srgbClr val="E6FBF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6604000" cy="47965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381000" y="469900"/>
              <a:ext cx="5715000" cy="417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 spc="230" b="true">
                  <a:solidFill>
                    <a:srgbClr val="18A999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NOW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381000" y="1390227"/>
              <a:ext cx="5715000" cy="17509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₹516 prototype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Dual-IMU sensing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ESP32 Edge AI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BLE dashboard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5876925" y="4333875"/>
            <a:ext cx="428625" cy="0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6400800" y="2619375"/>
            <a:ext cx="4953000" cy="3561715"/>
            <a:chOff x="0" y="0"/>
            <a:chExt cx="6604000" cy="4748954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6604000" cy="4748954"/>
              <a:chOff x="0" y="0"/>
              <a:chExt cx="6604000" cy="474895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604000" cy="4748954"/>
              </a:xfrm>
              <a:custGeom>
                <a:avLst/>
                <a:gdLst/>
                <a:ahLst/>
                <a:cxnLst/>
                <a:rect r="r" b="b" t="t" l="l"/>
                <a:pathLst>
                  <a:path h="4748954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4748954"/>
                    </a:lnTo>
                    <a:lnTo>
                      <a:pt x="0" y="4748954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6604000" cy="47965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381000" y="469900"/>
              <a:ext cx="5715000" cy="417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 spc="230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NEXT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381000" y="1390227"/>
              <a:ext cx="5715000" cy="17509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Larger gait datasets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Robust model validation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Improved enclosure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Better signal processing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1401425" y="4333875"/>
            <a:ext cx="428625" cy="0"/>
          </a:xfrm>
          <a:prstGeom prst="line">
            <a:avLst/>
          </a:prstGeom>
          <a:ln cap="flat" w="38100">
            <a:solidFill>
              <a:srgbClr val="26C6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11925300" y="2619375"/>
            <a:ext cx="4953000" cy="3561715"/>
            <a:chOff x="0" y="0"/>
            <a:chExt cx="6604000" cy="4748954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6604000" cy="4748954"/>
              <a:chOff x="0" y="0"/>
              <a:chExt cx="6604000" cy="4748954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604000" cy="4748954"/>
              </a:xfrm>
              <a:custGeom>
                <a:avLst/>
                <a:gdLst/>
                <a:ahLst/>
                <a:cxnLst/>
                <a:rect r="r" b="b" t="t" l="l"/>
                <a:pathLst>
                  <a:path h="4748954" w="6604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4748954"/>
                    </a:lnTo>
                    <a:lnTo>
                      <a:pt x="0" y="4748954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6604000" cy="47965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959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381000" y="469900"/>
              <a:ext cx="5715000" cy="417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 spc="230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FUTURE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381000" y="1390227"/>
              <a:ext cx="5715000" cy="17509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Clinical validation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Mobile integration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Long-term monitoring</a:t>
              </a:r>
            </a:p>
            <a:p>
              <a:pPr algn="l">
                <a:lnSpc>
                  <a:spcPts val="2694"/>
                </a:lnSpc>
              </a:pPr>
              <a:r>
                <a:rPr lang="en-US" sz="1924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Broader accessibility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876300" y="6915150"/>
            <a:ext cx="4762500" cy="290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4"/>
              </a:lnSpc>
            </a:pPr>
            <a:r>
              <a:rPr lang="en-US" sz="1674" spc="200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POTENTIAL APPLICATIONS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76300" y="7534275"/>
            <a:ext cx="16192500" cy="308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210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Research  •  Physiotherapy support  •  Gait screening  •  Remote monitoring  •  Resource-constrained environments</a:t>
            </a:r>
          </a:p>
        </p:txBody>
      </p:sp>
      <p:sp>
        <p:nvSpPr>
          <p:cNvPr name="AutoShape 26" id="26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876300" y="9744075"/>
            <a:ext cx="341692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581025"/>
            <a:ext cx="28575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288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CREDITS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00150"/>
            <a:ext cx="11906250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4"/>
              </a:lnSpc>
            </a:pPr>
            <a:r>
              <a:rPr lang="en-US" sz="4050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References &amp; Acknowledgements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76300" y="2428875"/>
            <a:ext cx="9810750" cy="7617460"/>
            <a:chOff x="0" y="0"/>
            <a:chExt cx="13081000" cy="10156613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3081000" cy="10156613"/>
              <a:chOff x="0" y="0"/>
              <a:chExt cx="13081000" cy="10156613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3081000" cy="10156613"/>
              </a:xfrm>
              <a:custGeom>
                <a:avLst/>
                <a:gdLst/>
                <a:ahLst/>
                <a:cxnLst/>
                <a:rect r="r" b="b" t="t" l="l"/>
                <a:pathLst>
                  <a:path h="10156613" w="13081000">
                    <a:moveTo>
                      <a:pt x="0" y="0"/>
                    </a:moveTo>
                    <a:lnTo>
                      <a:pt x="13081000" y="0"/>
                    </a:lnTo>
                    <a:lnTo>
                      <a:pt x="13081000" y="10156613"/>
                    </a:lnTo>
                    <a:lnTo>
                      <a:pt x="0" y="10156613"/>
                    </a:lnTo>
                    <a:close/>
                  </a:path>
                </a:pathLst>
              </a:custGeom>
              <a:solidFill>
                <a:srgbClr val="F8FB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13081000" cy="10194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419100" y="415925"/>
              <a:ext cx="6350000" cy="2774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84"/>
                </a:lnSpc>
              </a:pPr>
              <a:r>
                <a:rPr lang="en-US" sz="1275" spc="152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RESEARCH REFERENCES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419100" y="1114425"/>
              <a:ext cx="12065000" cy="6065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sz="17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Bytyqi, D., Shabani, B., Lustig, S., Cheze, L., Gjurgjeala, N. K., &amp; Neyret, P. (2014). Gait knee kinematic alterations in medial osteoarthritis: Three-dimensional assessment. International Orthopaedics, 38(6), 1191–1198. https://doi.org/10.1007/s00264-014-2312-3 (PMCID: PMC4037512).</a:t>
              </a:r>
            </a:p>
            <a:p>
              <a:pPr algn="l">
                <a:lnSpc>
                  <a:spcPts val="2449"/>
                </a:lnSpc>
              </a:pP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sz="17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Rhudy, M. B., Mahoney, J. M., &amp; Altman-Singles, A. R. (2024). Knee angle estimation with dynamic calibration using inertial measurement units for running. Sensors, 24(2), 695. https://doi.org/10.3390/s24020695.</a:t>
              </a:r>
            </a:p>
            <a:p>
              <a:pPr algn="l">
                <a:lnSpc>
                  <a:spcPts val="2449"/>
                </a:lnSpc>
              </a:pP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sz="17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Song, K., &amp; Baxter, J. R. (2025). Body-worn inertial measurement units track knee flexion angles with similar accuracy to optical motion capture. medRxiv / PMC12633563. https://doi.org/10.1101/2025.10.20.25338317.</a:t>
              </a:r>
            </a:p>
            <a:p>
              <a:pPr algn="l">
                <a:lnSpc>
                  <a:spcPts val="2449"/>
                </a:lnSpc>
              </a:pPr>
            </a:p>
            <a:p>
              <a:pPr algn="l" marL="377824" indent="-188912" lvl="1">
                <a:lnSpc>
                  <a:spcPts val="2449"/>
                </a:lnSpc>
                <a:buFont typeface="Arial"/>
                <a:buChar char="•"/>
              </a:pPr>
              <a:r>
                <a:rPr lang="en-US" sz="17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Espressif Systems. (2023). ESP32 Low-Power Management and RF Power Consumption Specification. Espressif Architecture Documentation, Rev. 3.4.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953750" y="2428875"/>
            <a:ext cx="6381750" cy="4833620"/>
            <a:chOff x="0" y="0"/>
            <a:chExt cx="8509000" cy="6444827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8509000" cy="6444827"/>
              <a:chOff x="0" y="0"/>
              <a:chExt cx="8509000" cy="644482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509000" cy="6444827"/>
              </a:xfrm>
              <a:custGeom>
                <a:avLst/>
                <a:gdLst/>
                <a:ahLst/>
                <a:cxnLst/>
                <a:rect r="r" b="b" t="t" l="l"/>
                <a:pathLst>
                  <a:path h="6444827" w="8509000">
                    <a:moveTo>
                      <a:pt x="0" y="0"/>
                    </a:moveTo>
                    <a:lnTo>
                      <a:pt x="8509000" y="0"/>
                    </a:lnTo>
                    <a:lnTo>
                      <a:pt x="8509000" y="6444827"/>
                    </a:lnTo>
                    <a:lnTo>
                      <a:pt x="0" y="6444827"/>
                    </a:lnTo>
                    <a:close/>
                  </a:path>
                </a:pathLst>
              </a:custGeom>
              <a:solidFill>
                <a:srgbClr val="E8F8F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8509000" cy="64829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571500" y="415925"/>
              <a:ext cx="5080000" cy="2774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84"/>
                </a:lnSpc>
              </a:pPr>
              <a:r>
                <a:rPr lang="en-US" sz="1275" spc="152" b="true">
                  <a:solidFill>
                    <a:srgbClr val="1677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SPECIAL THANKS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571500" y="1279525"/>
              <a:ext cx="6096000" cy="8991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73"/>
                </a:lnSpc>
              </a:pPr>
              <a:r>
                <a:rPr lang="en-US" sz="232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Mr. Prakash Pratik</a:t>
              </a:r>
            </a:p>
            <a:p>
              <a:pPr algn="l">
                <a:lnSpc>
                  <a:spcPts val="2673"/>
                </a:lnSpc>
              </a:pPr>
              <a:r>
                <a:rPr lang="en-US" sz="2325" b="true">
                  <a:solidFill>
                    <a:srgbClr val="092A4A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STA, NDU Ropar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571500" y="2892425"/>
              <a:ext cx="6350000" cy="8295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89"/>
                </a:lnSpc>
              </a:pPr>
              <a:r>
                <a:rPr lang="en-US" sz="1849">
                  <a:solidFill>
                    <a:srgbClr val="55728C"/>
                  </a:solidFill>
                  <a:latin typeface="Open Sans"/>
                  <a:ea typeface="Open Sans"/>
                  <a:cs typeface="Open Sans"/>
                  <a:sym typeface="Open Sans"/>
                </a:rPr>
                <a:t>For his valuable guidance and support throughout development.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162050" y="8244650"/>
            <a:ext cx="9525000" cy="439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3"/>
              </a:lnSpc>
            </a:pPr>
            <a:r>
              <a:rPr lang="en-US" sz="3225" b="true">
                <a:solidFill>
                  <a:srgbClr val="092A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Democratizing Gait Intelligence.</a:t>
            </a:r>
          </a:p>
        </p:txBody>
      </p:sp>
      <p:sp>
        <p:nvSpPr>
          <p:cNvPr name="AutoShape 18" id="18"/>
          <p:cNvSpPr/>
          <p:nvPr/>
        </p:nvSpPr>
        <p:spPr>
          <a:xfrm>
            <a:off x="876300" y="9591675"/>
            <a:ext cx="16535400" cy="0"/>
          </a:xfrm>
          <a:prstGeom prst="line">
            <a:avLst/>
          </a:prstGeom>
          <a:ln cap="flat" w="9525">
            <a:solidFill>
              <a:srgbClr val="CFE5F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876300" y="9734550"/>
            <a:ext cx="3075052" cy="406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4"/>
              </a:lnSpc>
            </a:pPr>
            <a:r>
              <a:rPr lang="en-US" sz="2374" spc="284" b="true">
                <a:solidFill>
                  <a:srgbClr val="1677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KNEEGAIT—EDGE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573500" y="9763125"/>
            <a:ext cx="857250" cy="230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3"/>
              </a:lnSpc>
            </a:pPr>
            <a:r>
              <a:rPr lang="en-US" sz="1425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12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953750" y="7657528"/>
            <a:ext cx="5415157" cy="102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49" b="true">
                <a:solidFill>
                  <a:srgbClr val="55728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Note : </a:t>
            </a:r>
            <a:r>
              <a:rPr lang="en-US" sz="1949">
                <a:solidFill>
                  <a:srgbClr val="55728C"/>
                </a:solidFill>
                <a:latin typeface="Open Sans"/>
                <a:ea typeface="Open Sans"/>
                <a:cs typeface="Open Sans"/>
                <a:sym typeface="Open Sans"/>
              </a:rPr>
              <a:t>product images used are AI generated and for display purpose only, actual prototype is yet to be build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DAHVtB4HaEM</dc:identifier>
  <dcterms:modified xsi:type="dcterms:W3CDTF">2011-08-01T06:04:30Z</dcterms:modified>
  <cp:revision>1</cp:revision>
  <dc:title>KneeGait-Edge Pitch Deck</dc:title>
</cp:coreProperties>
</file>