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" id="{FC9A53C4-F20D-43C3-6AEC-1784DDBEBAE6}">
          <p14:sldIdLst>
            <p14:sldId id="256"/>
            <p14:sldId id="257"/>
          </p14:sldIdLst>
        </p14:section>
        <p14:section name="Solution" id="{1DC2E00E-D914-433B-106B-03BFC1DBCCDC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Demo &amp; context" id="{89F4067D-B074-9CD3-E298-77B5FA63FDAD}">
          <p14:sldIdLst>
            <p14:sldId id="264"/>
            <p14:sldId id="265"/>
          </p14:sldIdLst>
        </p14:section>
        <p14:section name="Roadmap" id="{6122BB90-B8EF-4250-AC72-E261F6717449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A4A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0B2A4A"/>
                </a:solidFill>
                <a:latin typeface="+mn-lt"/>
              </a:rPr>
              <a:t>Live shank angle over time (illustrative)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Shank angle (°)</c:v>
                </c:pt>
              </c:strCache>
            </c:strRef>
          </c:tx>
          <c:spPr>
            <a:ln w="38100" cap="flat">
              <a:solidFill>
                <a:srgbClr val="1F7A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7AFF"/>
              </a:solidFill>
              <a:ln w="9525" cap="flat">
                <a:solidFill>
                  <a:srgbClr val="1F7AFF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5</c:v>
                </c:pt>
                <c:pt idx="1">
                  <c:v>19</c:v>
                </c:pt>
                <c:pt idx="2">
                  <c:v>30</c:v>
                </c:pt>
                <c:pt idx="3">
                  <c:v>35</c:v>
                </c:pt>
                <c:pt idx="4">
                  <c:v>37</c:v>
                </c:pt>
                <c:pt idx="5">
                  <c:v>39</c:v>
                </c:pt>
                <c:pt idx="6">
                  <c:v>34</c:v>
                </c:pt>
                <c:pt idx="7">
                  <c:v>20</c:v>
                </c:pt>
                <c:pt idx="8">
                  <c:v>4</c:v>
                </c:pt>
                <c:pt idx="9">
                  <c:v>-3</c:v>
                </c:pt>
                <c:pt idx="10">
                  <c:v>5</c:v>
                </c:pt>
                <c:pt idx="11">
                  <c:v>19</c:v>
                </c:pt>
                <c:pt idx="12">
                  <c:v>30</c:v>
                </c:pt>
                <c:pt idx="13">
                  <c:v>35</c:v>
                </c:pt>
                <c:pt idx="14">
                  <c:v>37</c:v>
                </c:pt>
                <c:pt idx="15">
                  <c:v>39</c:v>
                </c:pt>
                <c:pt idx="16">
                  <c:v>34</c:v>
                </c:pt>
                <c:pt idx="17">
                  <c:v>20</c:v>
                </c:pt>
                <c:pt idx="18">
                  <c:v>4</c:v>
                </c:pt>
                <c:pt idx="19">
                  <c:v>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85E-4F02-9792-0ECE94731A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F86"/>
                    </a:solidFill>
                    <a:latin typeface="+mn-lt"/>
                  </a:defRPr>
                </a:pPr>
                <a:r>
                  <a:rPr lang="en-IN" sz="1000" b="0" i="0" u="none" strike="noStrike">
                    <a:solidFill>
                      <a:srgbClr val="5B6F86"/>
                    </a:solidFill>
                    <a:latin typeface="+mn-lt"/>
                  </a:rPr>
                  <a:t>Time (samples)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F8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E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F86"/>
                    </a:solidFill>
                    <a:latin typeface="+mn-lt"/>
                  </a:defRPr>
                </a:pPr>
                <a:r>
                  <a:rPr lang="en-IN" sz="1000" b="0" i="0" u="none" strike="noStrike">
                    <a:solidFill>
                      <a:srgbClr val="5B6F86"/>
                    </a:solidFill>
                    <a:latin typeface="+mn-lt"/>
                  </a:rPr>
                  <a:t>Angle (°)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F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4227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KneeGait-Edge is a low-cost wearable that brings gait screening out of the lab. One shank-mounted IMU, an ESP32 doing the processing and the machine learning on-device, and a browser dashboard over Bluetooth. Prototype cost: about ₹516.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Optical motion capture costs tens of thousands of dollars and lives in a lab. Knee osteoarthritis affects over 650 million adults, so the gap between who needs gait assessment and who can get it is large.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stages: sense with the shank IMU, compute on the ESP32, analyze gait features, visualize in the browser over Web Bluetooth. Everything except the dashboard runs on the wearable.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design choices trace back to three papers: Bytyqi for the clinical stiff-gait threshold, Rhudy for the complementary filter, Song and Baxter for tibial mounting. These are literature results, not our own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cheap parts. The MPU-6050 is on I2C (SDA GPIO 21, SCL GPIO 22). The address is 0x68 or 0x69 depending on the AD0 pin. The ₹516 figure is the out-of-pocket cost of this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complementary filter blends the gyroscope (smooth but drifts) with accelerometer tilt (noisy but drift-free). With 96% weight on the gyro path at 50 Hz it is cheap enough for the ESP32. With one shank sensor the output is shank angle, not knee flexion.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Strides are cut at heel strikes, detected from the shank acceleration spike. Each stride yields five features that feed the classifier.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classifier is a small random forest exported as a C header, so inference runs on the ESP32 in microseconds with no cloud. Important caveat: the training data is synthetic, and the class thresholds come from knee-flexion literature, so real-data validation is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dashboard talks to the ESP32 over Web Bluetooth, so there is no backend or app to install. The waveform shown is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Patients with knee OA tend to stiffen the knee during swing, reducing peak flexion. The &lt; 45° line is a screening indicator from the literature, not a diagnosis, and our shank-only angle is a proxy that needs recalibration.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 with the biggest impact: add the thigh IMU so the device measures true knee flexion and the literature thresholds apply directly, then collect real gait data to replace the synthetic training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Reiterate the prototype status and that dashboard values are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325880"/>
            <a:ext cx="4754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accent1"/>
                </a:solidFill>
              </a:rPr>
              <a:t>KNEEGAIT—EDGE</a:t>
            </a:r>
            <a:endParaRPr lang="en-US" sz="1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3258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KneeGait-Edge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Democratizing Gait Intelligence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A ₹516 edge-AI wearable for accessible gait analysis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8173"/>
            <a:ext cx="5683348" cy="437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chemeClr val="accent2"/>
                </a:solidFill>
              </a:rPr>
              <a:t>GRAVITON (CGC University Mohali)</a:t>
            </a:r>
            <a:endParaRPr lang="en-US" sz="2000" dirty="0"/>
          </a:p>
        </p:txBody>
      </p:sp>
      <p:sp>
        <p:nvSpPr>
          <p:cNvPr id="6" name="Ring"/>
          <p:cNvSpPr/>
          <p:nvPr/>
        </p:nvSpPr>
        <p:spPr>
          <a:xfrm>
            <a:off x="5029200" y="640080"/>
            <a:ext cx="3840480" cy="3840480"/>
          </a:xfrm>
          <a:prstGeom prst="ellipse">
            <a:avLst/>
          </a:prstGeom>
          <a:solidFill>
            <a:schemeClr val="tx1">
              <a:alpha val="0"/>
            </a:schemeClr>
          </a:solidFill>
          <a:ln w="19050">
            <a:solidFill>
              <a:schemeClr val="accent2">
                <a:alpha val="4500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7" name="Ring"/>
          <p:cNvSpPr/>
          <p:nvPr/>
        </p:nvSpPr>
        <p:spPr>
          <a:xfrm>
            <a:off x="5486400" y="1097280"/>
            <a:ext cx="2926080" cy="2926080"/>
          </a:xfrm>
          <a:prstGeom prst="ellipse">
            <a:avLst/>
          </a:prstGeom>
          <a:solidFill>
            <a:schemeClr val="tx1">
              <a:alpha val="0"/>
            </a:schemeClr>
          </a:solidFill>
          <a:ln w="19050">
            <a:solidFill>
              <a:schemeClr val="accent1">
                <a:alpha val="6500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8" name="Core"/>
          <p:cNvSpPr/>
          <p:nvPr/>
        </p:nvSpPr>
        <p:spPr>
          <a:xfrm>
            <a:off x="5943600" y="1554480"/>
            <a:ext cx="2011680" cy="201168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  <p:txBody>
          <a:bodyPr/>
          <a:p/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3098C5A1-BF47-9477-ECF2-702C963E1329}"/>
              </a:ext>
            </a:extLst>
          </p:cNvPr>
          <p:cNvSpPr txBox="1"/>
          <p:nvPr/>
        </p:nvSpPr>
        <p:spPr>
          <a:xfrm>
            <a:off x="548640" y="3566160"/>
            <a:ext cx="21171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accent2"/>
                </a:solidFill>
              </a:rPr>
              <a:t>Team Astronauts</a:t>
            </a:r>
            <a:endParaRPr lang="en-US" sz="16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37F619C3-4492-7D00-2A90-3FE1DEB3D2E1}"/>
              </a:ext>
            </a:extLst>
          </p:cNvPr>
          <p:cNvSpPr txBox="1"/>
          <p:nvPr/>
        </p:nvSpPr>
        <p:spPr>
          <a:xfrm>
            <a:off x="548640" y="38862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Rahul Bansal (CTU)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Prateek Dhar Dwivedi (NIELIT Deemed to be University Ropar)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Saksham Verma (NIELIT Deemed to be University Ropar)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Krishna Kumar (NIELIT Deemed to be University Ropar)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2DF4A1F-3B05-0872-5D14-0AE550612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785" y="125510"/>
            <a:ext cx="3377895" cy="45038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THE ACCESS GAP</a:t>
            </a:r>
            <a:endParaRPr lang="en-US" sz="11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Gait analysis is locked behind labs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3931920" cy="2286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Traditional approach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Specialized equipment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Expensive infrastructure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Laboratory-dependent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Limited access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663440" y="1280160"/>
            <a:ext cx="402336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46320" y="12801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650M+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2801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adults live with knee osteoarthritis worldwide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4663440" y="2080260"/>
            <a:ext cx="402336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46320" y="20802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$20K–$50K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0802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optical motion-capture systems (Vicon, Qualisys)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4663440" y="2880360"/>
            <a:ext cx="402336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846320" y="28803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₹516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8803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our single-IMU edge-AI prototype</a:t>
            </a:r>
            <a:endParaRPr lang="en-US" sz="1200" dirty="0"/>
          </a:p>
        </p:txBody>
      </p:sp>
      <p:sp>
        <p:nvSpPr>
          <p:cNvPr id="16" name="Question banner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8404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Can gait intelligence become portable, accessible and affordable?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1788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The need:  Portable  •  Affordable  •  Real-time  •  Accessible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THE PROTOTYPE</a:t>
            </a:r>
            <a:endParaRPr lang="en-US" sz="11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Meet KneeGait-Edge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A wearable edge-AI prototype that tracks shank motion during walking with a single IMU strapped to the shin.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457200" y="2560320"/>
            <a:ext cx="3657600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5603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Mounted on the flat anteromedial tibia to limit soft-tissue wobble.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840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From body movement to real-time gait intelligence.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480560" y="1280160"/>
            <a:ext cx="201168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01  SENSE badge"/>
          <p:cNvSpPr/>
          <p:nvPr/>
        </p:nvSpPr>
        <p:spPr>
          <a:xfrm>
            <a:off x="466344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01  SENSE" descr="01  SEN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572768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663440" y="2057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01  SENSE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2286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Shank IMU captures movement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6675120" y="1280160"/>
            <a:ext cx="201168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02  COMPUTE badge"/>
          <p:cNvSpPr/>
          <p:nvPr/>
        </p:nvSpPr>
        <p:spPr>
          <a:xfrm>
            <a:off x="685800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02  COMPUTE" descr="02  COMPU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1572768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858000" y="2057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02  COMPUTE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858000" y="2286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ESP32 processes in real time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4480560" y="2971800"/>
            <a:ext cx="201168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03  ANALYZE badge"/>
          <p:cNvSpPr/>
          <p:nvPr/>
        </p:nvSpPr>
        <p:spPr>
          <a:xfrm>
            <a:off x="4663440" y="3154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03  ANALYZE" descr="03  ANALYZ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3264408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663440" y="37490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 ANALYZE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4663440" y="3977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Gait features are extracted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6675120" y="2971800"/>
            <a:ext cx="201168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04  VISUALIZE badge"/>
          <p:cNvSpPr/>
          <p:nvPr/>
        </p:nvSpPr>
        <p:spPr>
          <a:xfrm>
            <a:off x="6858000" y="3154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04  VISUALIZE" descr="04  VISUALIZ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7728" y="3264408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858000" y="37490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04  VISUALIZE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6858000" y="3977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BLE streams to the browser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SYSTEM FLOW</a:t>
            </a:r>
            <a:endParaRPr lang="en-US" sz="11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From Motion to Gait Intelligence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123444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02920" y="128016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SHANK IMU</a:t>
            </a:r>
            <a:endParaRPr lang="en-US" sz="1100" dirty="0"/>
          </a:p>
        </p:txBody>
      </p:sp>
      <p:sp>
        <p:nvSpPr>
          <p:cNvPr id="6" name="Connector"/>
          <p:cNvSpPr/>
          <p:nvPr/>
        </p:nvSpPr>
        <p:spPr>
          <a:xfrm>
            <a:off x="1691640" y="1645920"/>
            <a:ext cx="164592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7" name="Card"/>
          <p:cNvSpPr/>
          <p:nvPr/>
        </p:nvSpPr>
        <p:spPr>
          <a:xfrm>
            <a:off x="1856232" y="1280160"/>
            <a:ext cx="1234440" cy="731520"/>
          </a:xfrm>
          <a:prstGeom prst="roundRect">
            <a:avLst>
              <a:gd name="adj" fmla="val 12500"/>
            </a:avLst>
          </a:prstGeom>
          <a:solidFill>
            <a:schemeClr val="accent2">
              <a:alpha val="30000"/>
            </a:schemeClr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901952" y="128016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ESP32</a:t>
            </a:r>
            <a:endParaRPr lang="en-US" sz="1100" dirty="0"/>
          </a:p>
        </p:txBody>
      </p:sp>
      <p:sp>
        <p:nvSpPr>
          <p:cNvPr id="9" name="Connector"/>
          <p:cNvSpPr/>
          <p:nvPr/>
        </p:nvSpPr>
        <p:spPr>
          <a:xfrm>
            <a:off x="3090672" y="1645920"/>
            <a:ext cx="164592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10" name="Card"/>
          <p:cNvSpPr/>
          <p:nvPr/>
        </p:nvSpPr>
        <p:spPr>
          <a:xfrm>
            <a:off x="3255264" y="1280160"/>
            <a:ext cx="123444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300984" y="128016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SENSOR FUSION</a:t>
            </a:r>
            <a:endParaRPr lang="en-US" sz="1100" dirty="0"/>
          </a:p>
        </p:txBody>
      </p:sp>
      <p:sp>
        <p:nvSpPr>
          <p:cNvPr id="12" name="Connector"/>
          <p:cNvSpPr/>
          <p:nvPr/>
        </p:nvSpPr>
        <p:spPr>
          <a:xfrm>
            <a:off x="4489704" y="1645920"/>
            <a:ext cx="164592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13" name="Card"/>
          <p:cNvSpPr/>
          <p:nvPr/>
        </p:nvSpPr>
        <p:spPr>
          <a:xfrm>
            <a:off x="4654296" y="1280160"/>
            <a:ext cx="123444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700016" y="128016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STRIDE FEATURES</a:t>
            </a:r>
            <a:endParaRPr lang="en-US" sz="1100" dirty="0"/>
          </a:p>
        </p:txBody>
      </p:sp>
      <p:sp>
        <p:nvSpPr>
          <p:cNvPr id="15" name="Connector"/>
          <p:cNvSpPr/>
          <p:nvPr/>
        </p:nvSpPr>
        <p:spPr>
          <a:xfrm>
            <a:off x="5888736" y="1645920"/>
            <a:ext cx="164592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16" name="Card"/>
          <p:cNvSpPr/>
          <p:nvPr/>
        </p:nvSpPr>
        <p:spPr>
          <a:xfrm>
            <a:off x="6053328" y="1280160"/>
            <a:ext cx="123444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099048" y="128016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RANDOM FOREST</a:t>
            </a:r>
            <a:endParaRPr lang="en-US" sz="1100" dirty="0"/>
          </a:p>
        </p:txBody>
      </p:sp>
      <p:sp>
        <p:nvSpPr>
          <p:cNvPr id="18" name="Connector"/>
          <p:cNvSpPr/>
          <p:nvPr/>
        </p:nvSpPr>
        <p:spPr>
          <a:xfrm>
            <a:off x="7287768" y="1645920"/>
            <a:ext cx="164592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19" name="Card"/>
          <p:cNvSpPr/>
          <p:nvPr/>
        </p:nvSpPr>
        <p:spPr>
          <a:xfrm>
            <a:off x="7452360" y="1280160"/>
            <a:ext cx="123444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498080" y="128016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BLE DASHBOARD</a:t>
            </a:r>
            <a:endParaRPr lang="en-US" sz="1100" dirty="0"/>
          </a:p>
        </p:txBody>
      </p:sp>
      <p:sp>
        <p:nvSpPr>
          <p:cNvPr id="21" name="Card"/>
          <p:cNvSpPr/>
          <p:nvPr/>
        </p:nvSpPr>
        <p:spPr>
          <a:xfrm>
            <a:off x="457200" y="2286000"/>
            <a:ext cx="8229600" cy="2148840"/>
          </a:xfrm>
          <a:prstGeom prst="roundRect">
            <a:avLst>
              <a:gd name="adj" fmla="val 4255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0080" y="23957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RESEARCH BACKED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26974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Bytyqi et al. (2014)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29443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Clinical thresholds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18211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Peak swing flexion ≈ 41.9° in medial knee OA vs ≈ 58° in healthy controls; basis for the &lt; 45° screening flag.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383280" y="26974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Rhudy et al. (2024)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29443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Sensor fusion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383280" y="318211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Magnetometer-free complementary filter (α = 0.96 at 50 Hz); reported joint-angle RMSE ≤ 3.2° vs motion capture.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126480" y="26974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Song &amp; Baxter (2025)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126480" y="29443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Placement &amp; validation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126480" y="318211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Tibia-mounted IMUs limit soft-tissue artifact; reported Rxy ≥ 0.90 against optical motion capture.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41605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tx2"/>
                </a:solidFill>
              </a:rPr>
              <a:t>Literature figures come from knee-angle studies, not from this prototype's own measurements.</a:t>
            </a:r>
            <a:endParaRPr lang="en-US" sz="10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HARDWARE</a:t>
            </a:r>
            <a:endParaRPr lang="en-US" sz="11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Simple Hardware. Smart Processing.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1920240" cy="173736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ESP32 NodeMCU badge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ESP32 NodeMCU" descr="ESP32 NodeMC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158374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ESP32 NodeMCU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4414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Processing + BLE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2560320" y="1280160"/>
            <a:ext cx="1920240" cy="173736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1 × MPU-6050 badge"/>
          <p:cNvSpPr/>
          <p:nvPr/>
        </p:nvSpPr>
        <p:spPr>
          <a:xfrm>
            <a:off x="274320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1 × MPU-6050" descr="1 × MPU-60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3901" y="158374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4320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1 × MPU-6050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743200" y="24414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6-axis motion sensing on the shank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4663440" y="1280160"/>
            <a:ext cx="1920240" cy="173736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USB power bank badge"/>
          <p:cNvSpPr/>
          <p:nvPr/>
        </p:nvSpPr>
        <p:spPr>
          <a:xfrm>
            <a:off x="484632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USB power bank" descr="USB power ban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7021" y="158374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84632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USB power bank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846320" y="24414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Portable power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6766560" y="1280160"/>
            <a:ext cx="1920240" cy="173736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Elastic bandage badge"/>
          <p:cNvSpPr/>
          <p:nvPr/>
        </p:nvSpPr>
        <p:spPr>
          <a:xfrm>
            <a:off x="694944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Elastic bandage" descr="Elastic band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0141" y="1583741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4944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Elastic bandage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949440" y="24414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Wearable mounting</a:t>
            </a:r>
            <a:endParaRPr lang="en-US" sz="1200" dirty="0"/>
          </a:p>
        </p:txBody>
      </p:sp>
      <p:sp>
        <p:nvSpPr>
          <p:cNvPr id="24" name="I2C panel"/>
          <p:cNvSpPr/>
          <p:nvPr/>
        </p:nvSpPr>
        <p:spPr>
          <a:xfrm>
            <a:off x="457200" y="3200400"/>
            <a:ext cx="8229600" cy="91440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640080" y="33101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I²C BUS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640080" y="36393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SDA → GPIO 21    SCL → GPIO 22    Shank IMU → 0x68 (AD0 low) / 0x69 (AD0 high)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427939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Cost democratization: capable sensing from components anyone can buy.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6309360" y="4251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₹516</a:t>
            </a:r>
            <a:r>
              <a:rPr lang="en-US" sz="1200" dirty="0">
                <a:solidFill>
                  <a:schemeClr val="tx2"/>
                </a:solidFill>
              </a:rPr>
              <a:t>  prototype cost</a:t>
            </a:r>
            <a:endParaRPr lang="en-US" sz="2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SIGNAL FUSION</a:t>
            </a:r>
            <a:endParaRPr lang="en-US" sz="11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Turning Raw Motion Into Shank Angle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tep badge"/>
          <p:cNvSpPr/>
          <p:nvPr/>
        </p:nvSpPr>
        <p:spPr>
          <a:xfrm>
            <a:off x="640080" y="14173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20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ACCELEROMETER TILT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94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Inclination from gravity: atan2(−ax, √(ay²+az²))</a:t>
            </a:r>
            <a:endParaRPr lang="en-US" sz="1200" dirty="0"/>
          </a:p>
        </p:txBody>
      </p:sp>
      <p:sp>
        <p:nvSpPr>
          <p:cNvPr id="9" name="Connector"/>
          <p:cNvSpPr/>
          <p:nvPr/>
        </p:nvSpPr>
        <p:spPr>
          <a:xfrm>
            <a:off x="3017520" y="2011680"/>
            <a:ext cx="27432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10" name="Card"/>
          <p:cNvSpPr/>
          <p:nvPr/>
        </p:nvSpPr>
        <p:spPr>
          <a:xfrm>
            <a:off x="3291840" y="128016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tep badge"/>
          <p:cNvSpPr/>
          <p:nvPr/>
        </p:nvSpPr>
        <p:spPr>
          <a:xfrm>
            <a:off x="3474720" y="14173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7472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920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GYROSCOPE INTEGRATION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194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Rotation over time: θ(t−Δt) + ω·Δt</a:t>
            </a:r>
            <a:endParaRPr lang="en-US" sz="1200" dirty="0"/>
          </a:p>
        </p:txBody>
      </p:sp>
      <p:sp>
        <p:nvSpPr>
          <p:cNvPr id="15" name="Connector"/>
          <p:cNvSpPr/>
          <p:nvPr/>
        </p:nvSpPr>
        <p:spPr>
          <a:xfrm>
            <a:off x="5852160" y="2011680"/>
            <a:ext cx="27432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16" name="Card"/>
          <p:cNvSpPr/>
          <p:nvPr/>
        </p:nvSpPr>
        <p:spPr>
          <a:xfrm>
            <a:off x="6126480" y="128016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tep badge"/>
          <p:cNvSpPr/>
          <p:nvPr/>
        </p:nvSpPr>
        <p:spPr>
          <a:xfrm>
            <a:off x="6309360" y="141732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093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1920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COMPLEMENTARY FILTER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2194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Fused angle with less noise and drift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457200" y="2926080"/>
            <a:ext cx="822960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θ(t) = 0.96 × [θ(t−Δt) + ω·Δt] + 0.04 × θacc(t)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45643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50 Hz sampling  •  Δt = 20 ms  •  α = 0.96</a:t>
            </a:r>
            <a:endParaRPr lang="en-US" sz="1200" dirty="0"/>
          </a:p>
        </p:txBody>
      </p:sp>
      <p:sp>
        <p:nvSpPr>
          <p:cNvPr id="24" name="Single sensor note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accent4">
              <a:alpha val="18000"/>
            </a:scheme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One IMU gives shank inclination θshank, a proxy for knee motion. True knee flexion, |θthigh − θshank|, needs a second (thigh) sensor, which is planned next.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GAIT ANALYSIS</a:t>
            </a:r>
            <a:endParaRPr lang="en-US" sz="11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From Strides to Features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HEEL-STRIKE EVENT DETECTION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457200" y="1536192"/>
            <a:ext cx="347472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627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≥ 1.45 g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391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Shank impact spike marks a heel strike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457200" y="2551176"/>
            <a:ext cx="347472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" y="26426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0.40 s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0540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Refractory window rejects bounce and chatter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457200" y="3566160"/>
            <a:ext cx="347472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0.55–2.40 s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Valid stride duration (physiological bounds)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128016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FIVE GAIT FEATURES PER STRIDE</a:t>
            </a:r>
            <a:endParaRPr lang="en-US" sz="1100" dirty="0"/>
          </a:p>
        </p:txBody>
      </p:sp>
      <p:sp>
        <p:nvSpPr>
          <p:cNvPr id="15" name="Card"/>
          <p:cNvSpPr/>
          <p:nvPr/>
        </p:nvSpPr>
        <p:spPr>
          <a:xfrm>
            <a:off x="4206240" y="1536192"/>
            <a:ext cx="448056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Number badge"/>
          <p:cNvSpPr/>
          <p:nvPr/>
        </p:nvSpPr>
        <p:spPr>
          <a:xfrm>
            <a:off x="4343400" y="163677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34340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15819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Peak swing angle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18105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Max shank angle during the swing phase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4206240" y="2139696"/>
            <a:ext cx="448056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Number badge"/>
          <p:cNvSpPr/>
          <p:nvPr/>
        </p:nvSpPr>
        <p:spPr>
          <a:xfrm>
            <a:off x="4343400" y="224028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343400" y="2240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21854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Sagittal range of motion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24140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Max − min angle across the stride</a:t>
            </a:r>
            <a:endParaRPr lang="en-US" sz="1200" dirty="0"/>
          </a:p>
        </p:txBody>
      </p:sp>
      <p:sp>
        <p:nvSpPr>
          <p:cNvPr id="25" name="Card"/>
          <p:cNvSpPr/>
          <p:nvPr/>
        </p:nvSpPr>
        <p:spPr>
          <a:xfrm>
            <a:off x="4206240" y="2743200"/>
            <a:ext cx="448056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Number badge"/>
          <p:cNvSpPr/>
          <p:nvPr/>
        </p:nvSpPr>
        <p:spPr>
          <a:xfrm>
            <a:off x="4343400" y="2843784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34340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800600" y="27889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Stance / swing ratio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800600" y="30175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Weight-bearing time ÷ swing time</a:t>
            </a:r>
            <a:endParaRPr lang="en-US" sz="1200" dirty="0"/>
          </a:p>
        </p:txBody>
      </p:sp>
      <p:sp>
        <p:nvSpPr>
          <p:cNvPr id="30" name="Card"/>
          <p:cNvSpPr/>
          <p:nvPr/>
        </p:nvSpPr>
        <p:spPr>
          <a:xfrm>
            <a:off x="4206240" y="3346704"/>
            <a:ext cx="448056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Number badge"/>
          <p:cNvSpPr/>
          <p:nvPr/>
        </p:nvSpPr>
        <p:spPr>
          <a:xfrm>
            <a:off x="4343400" y="344728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343400" y="3447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339242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Peak angular velocity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36210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Max rate of rotation, max |dθ/dt|</a:t>
            </a:r>
            <a:endParaRPr lang="en-US" sz="1200" dirty="0"/>
          </a:p>
        </p:txBody>
      </p:sp>
      <p:sp>
        <p:nvSpPr>
          <p:cNvPr id="35" name="Card"/>
          <p:cNvSpPr/>
          <p:nvPr/>
        </p:nvSpPr>
        <p:spPr>
          <a:xfrm>
            <a:off x="4206240" y="3950208"/>
            <a:ext cx="448056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Number badge"/>
          <p:cNvSpPr/>
          <p:nvPr/>
        </p:nvSpPr>
        <p:spPr>
          <a:xfrm>
            <a:off x="4343400" y="405079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343400" y="4050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800600" y="39959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Cadence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4800600" y="42245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Steps per minute = 120 ÷ stride time (s)</a:t>
            </a:r>
            <a:endParaRPr lang="en-US" sz="12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EDGE AI</a:t>
            </a:r>
            <a:endParaRPr lang="en-US" sz="11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Intelligence at the Edge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320040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02920" y="1280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RAW 50 Hz SHANK DATA</a:t>
            </a:r>
            <a:endParaRPr lang="en-US" sz="1100" dirty="0"/>
          </a:p>
        </p:txBody>
      </p:sp>
      <p:sp>
        <p:nvSpPr>
          <p:cNvPr id="6" name="Connector"/>
          <p:cNvSpPr/>
          <p:nvPr/>
        </p:nvSpPr>
        <p:spPr>
          <a:xfrm>
            <a:off x="2057400" y="1737360"/>
            <a:ext cx="0" cy="164592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7" name="Card"/>
          <p:cNvSpPr/>
          <p:nvPr/>
        </p:nvSpPr>
        <p:spPr>
          <a:xfrm>
            <a:off x="457200" y="1901952"/>
            <a:ext cx="320040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02920" y="19019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STRIDE SEGMENTATION</a:t>
            </a:r>
            <a:endParaRPr lang="en-US" sz="1100" dirty="0"/>
          </a:p>
        </p:txBody>
      </p:sp>
      <p:sp>
        <p:nvSpPr>
          <p:cNvPr id="9" name="Connector"/>
          <p:cNvSpPr/>
          <p:nvPr/>
        </p:nvSpPr>
        <p:spPr>
          <a:xfrm>
            <a:off x="2057400" y="2359152"/>
            <a:ext cx="0" cy="164592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10" name="Card"/>
          <p:cNvSpPr/>
          <p:nvPr/>
        </p:nvSpPr>
        <p:spPr>
          <a:xfrm>
            <a:off x="457200" y="2523744"/>
            <a:ext cx="320040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02920" y="25237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5 GAIT FEATURES</a:t>
            </a:r>
            <a:endParaRPr lang="en-US" sz="1100" dirty="0"/>
          </a:p>
        </p:txBody>
      </p:sp>
      <p:sp>
        <p:nvSpPr>
          <p:cNvPr id="12" name="Connector"/>
          <p:cNvSpPr/>
          <p:nvPr/>
        </p:nvSpPr>
        <p:spPr>
          <a:xfrm>
            <a:off x="2057400" y="2980944"/>
            <a:ext cx="0" cy="164592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13" name="Card"/>
          <p:cNvSpPr/>
          <p:nvPr/>
        </p:nvSpPr>
        <p:spPr>
          <a:xfrm>
            <a:off x="457200" y="3145536"/>
            <a:ext cx="320040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02920" y="314553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RANDOM FOREST (20 TREES, DEPTH 5)</a:t>
            </a:r>
            <a:endParaRPr lang="en-US" sz="1100" dirty="0"/>
          </a:p>
        </p:txBody>
      </p:sp>
      <p:sp>
        <p:nvSpPr>
          <p:cNvPr id="15" name="Connector"/>
          <p:cNvSpPr/>
          <p:nvPr/>
        </p:nvSpPr>
        <p:spPr>
          <a:xfrm>
            <a:off x="2057400" y="3602736"/>
            <a:ext cx="0" cy="164592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16" name="Card"/>
          <p:cNvSpPr/>
          <p:nvPr/>
        </p:nvSpPr>
        <p:spPr>
          <a:xfrm>
            <a:off x="457200" y="3767328"/>
            <a:ext cx="3200400" cy="457200"/>
          </a:xfrm>
          <a:prstGeom prst="roundRect">
            <a:avLst>
              <a:gd name="adj" fmla="val 20000"/>
            </a:avLst>
          </a:prstGeom>
          <a:solidFill>
            <a:schemeClr val="accent2">
              <a:alpha val="30000"/>
            </a:schemeClr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02920" y="37673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ON-DEVICE INFERENCE (&lt; 50 µs)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128016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3-CLASS RISK OUTPUT</a:t>
            </a:r>
            <a:endParaRPr lang="en-US" sz="1100" dirty="0"/>
          </a:p>
        </p:txBody>
      </p:sp>
      <p:sp>
        <p:nvSpPr>
          <p:cNvPr id="19" name="Card"/>
          <p:cNvSpPr/>
          <p:nvPr/>
        </p:nvSpPr>
        <p:spPr>
          <a:xfrm>
            <a:off x="4023360" y="1536192"/>
            <a:ext cx="466344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Class dot"/>
          <p:cNvSpPr/>
          <p:nvPr/>
        </p:nvSpPr>
        <p:spPr>
          <a:xfrm>
            <a:off x="4206240" y="1709928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617720" y="160934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Normal gait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186537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Peak swing flexion ≥ 49.4° · continue monitoring</a:t>
            </a:r>
            <a:endParaRPr lang="en-US" sz="1200" dirty="0"/>
          </a:p>
        </p:txBody>
      </p:sp>
      <p:sp>
        <p:nvSpPr>
          <p:cNvPr id="23" name="Card"/>
          <p:cNvSpPr/>
          <p:nvPr/>
        </p:nvSpPr>
        <p:spPr>
          <a:xfrm>
            <a:off x="4023360" y="2231136"/>
            <a:ext cx="466344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Class dot"/>
          <p:cNvSpPr/>
          <p:nvPr/>
        </p:nvSpPr>
        <p:spPr>
          <a:xfrm>
            <a:off x="4206240" y="2404872"/>
            <a:ext cx="274320" cy="2743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17720" y="23042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Mild functional restriction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617720" y="25603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45.0° ≤ peak swing flexion &lt; 49.4° · follow up</a:t>
            </a:r>
            <a:endParaRPr lang="en-US" sz="1200" dirty="0"/>
          </a:p>
        </p:txBody>
      </p:sp>
      <p:sp>
        <p:nvSpPr>
          <p:cNvPr id="27" name="Card"/>
          <p:cNvSpPr/>
          <p:nvPr/>
        </p:nvSpPr>
        <p:spPr>
          <a:xfrm>
            <a:off x="4023360" y="2926080"/>
            <a:ext cx="466344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Class dot"/>
          <p:cNvSpPr/>
          <p:nvPr/>
        </p:nvSpPr>
        <p:spPr>
          <a:xfrm>
            <a:off x="4206240" y="3099816"/>
            <a:ext cx="274320" cy="2743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617720" y="29992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Severe antalgic stiff gait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617720" y="32552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Peak swing flexion &lt; 45.0° · physician review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023360" y="36576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Random Forest → portable C header → ESP32 inference. No cloud needed for core inference.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023360" y="4114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tx2"/>
                </a:solidFill>
              </a:rPr>
              <a:t>Trained on 20,000 synthetic strides; thresholds are knee-flexion references. Validation on real gait data is a next step.</a:t>
            </a:r>
            <a:endParaRPr lang="en-US" sz="11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LIVE EXPERIENCE</a:t>
            </a:r>
            <a:endParaRPr lang="en-US" sz="11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See the Gait in Real Time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4754880" cy="3017520"/>
          </a:xfrm>
          <a:prstGeom prst="roundRect">
            <a:avLst>
              <a:gd name="adj" fmla="val 303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graphicFrame>
        <p:nvGraphicFramePr>
          <p:cNvPr id="5" name="Chart 0"/>
          <p:cNvGraphicFramePr/>
          <p:nvPr/>
        </p:nvGraphicFramePr>
        <p:xfrm>
          <a:off x="548640" y="1371600"/>
          <a:ext cx="45720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Card"/>
          <p:cNvSpPr/>
          <p:nvPr/>
        </p:nvSpPr>
        <p:spPr>
          <a:xfrm>
            <a:off x="5486400" y="1280160"/>
            <a:ext cx="3200400" cy="713232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Web Bluetooth badge"/>
          <p:cNvSpPr/>
          <p:nvPr/>
        </p:nvSpPr>
        <p:spPr>
          <a:xfrm>
            <a:off x="5623560" y="145389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Web Bluetooth" descr="Web Bluetoot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1342" y="1541678"/>
            <a:ext cx="190195" cy="1901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126480" y="13441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Web Bluetooth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126480" y="156362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Runs in Chrome or Edge, no app install</a:t>
            </a:r>
            <a:endParaRPr lang="en-US" sz="11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49272DA-F35A-F534-E293-06041C00EF53}"/>
              </a:ext>
            </a:extLst>
          </p:cNvPr>
          <p:cNvGrpSpPr/>
          <p:nvPr/>
        </p:nvGrpSpPr>
        <p:grpSpPr>
          <a:xfrm>
            <a:off x="5511017" y="2432304"/>
            <a:ext cx="3200400" cy="713232"/>
            <a:chOff x="5486400" y="2889504"/>
            <a:chExt cx="3200400" cy="713232"/>
          </a:xfrm>
        </p:grpSpPr>
        <p:sp>
          <p:nvSpPr>
            <p:cNvPr id="16" name="Card"/>
            <p:cNvSpPr/>
            <p:nvPr/>
          </p:nvSpPr>
          <p:spPr>
            <a:xfrm>
              <a:off x="5486400" y="2889504"/>
              <a:ext cx="3200400" cy="713232"/>
            </a:xfrm>
            <a:prstGeom prst="roundRect">
              <a:avLst>
                <a:gd name="adj" fmla="val 12821"/>
              </a:avLst>
            </a:prstGeom>
            <a:solidFill>
              <a:schemeClr val="bg1"/>
            </a:solidFill>
            <a:ln/>
            <a:effectLst>
              <a:outerShdw blurRad="76200" dist="25400" dir="5400000" algn="bl" rotWithShape="0">
                <a:srgbClr val="000000">
                  <a:alpha val="10000"/>
                </a:srgbClr>
              </a:outerShdw>
            </a:effectLst>
          </p:spPr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170C0E7B-3163-337B-D138-95B2C25DE8EB}"/>
                </a:ext>
              </a:extLst>
            </p:cNvPr>
            <p:cNvGrpSpPr/>
            <p:nvPr/>
          </p:nvGrpSpPr>
          <p:grpSpPr>
            <a:xfrm>
              <a:off x="5623560" y="2953512"/>
              <a:ext cx="2971800" cy="603504"/>
              <a:chOff x="5623560" y="2953512"/>
              <a:chExt cx="2971800" cy="603504"/>
            </a:xfrm>
          </p:grpSpPr>
          <p:sp>
            <p:nvSpPr>
              <p:cNvPr id="17" name="Risk badge badge"/>
              <p:cNvSpPr/>
              <p:nvPr/>
            </p:nvSpPr>
            <p:spPr>
              <a:xfrm>
                <a:off x="5623560" y="3063240"/>
                <a:ext cx="365760" cy="365760"/>
              </a:xfrm>
              <a:prstGeom prst="ellipse">
                <a:avLst/>
              </a:prstGeom>
              <a:solidFill>
                <a:schemeClr val="accent1"/>
              </a:solidFill>
              <a:ln/>
            </p:spPr>
          </p:sp>
          <p:pic>
            <p:nvPicPr>
              <p:cNvPr id="18" name="Risk badge" descr="Risk badge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11342" y="3151022"/>
                <a:ext cx="190195" cy="190195"/>
              </a:xfrm>
              <a:prstGeom prst="rect">
                <a:avLst/>
              </a:prstGeom>
            </p:spPr>
          </p:pic>
          <p:sp>
            <p:nvSpPr>
              <p:cNvPr id="19" name="Text 13"/>
              <p:cNvSpPr txBox="1"/>
              <p:nvPr/>
            </p:nvSpPr>
            <p:spPr>
              <a:xfrm>
                <a:off x="6126480" y="2953512"/>
                <a:ext cx="246888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chemeClr val="tx1"/>
                    </a:solidFill>
                  </a:rPr>
                  <a:t>Risk badge</a:t>
                </a:r>
                <a:endParaRPr lang="en-US" sz="1200" dirty="0"/>
              </a:p>
            </p:txBody>
          </p:sp>
          <p:sp>
            <p:nvSpPr>
              <p:cNvPr id="20" name="Text 14"/>
              <p:cNvSpPr txBox="1"/>
              <p:nvPr/>
            </p:nvSpPr>
            <p:spPr>
              <a:xfrm>
                <a:off x="6126480" y="3172968"/>
                <a:ext cx="2468880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chemeClr val="tx2"/>
                    </a:solidFill>
                  </a:rPr>
                  <a:t>Green / amber / red triage at a glance</a:t>
                </a:r>
                <a:endParaRPr lang="en-US" sz="1100" dirty="0"/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490F08E-F5E6-4B3D-EC28-AB9529B323FB}"/>
              </a:ext>
            </a:extLst>
          </p:cNvPr>
          <p:cNvGrpSpPr/>
          <p:nvPr/>
        </p:nvGrpSpPr>
        <p:grpSpPr>
          <a:xfrm>
            <a:off x="5511017" y="3584448"/>
            <a:ext cx="3200400" cy="713232"/>
            <a:chOff x="5486400" y="3694176"/>
            <a:chExt cx="3200400" cy="713232"/>
          </a:xfrm>
        </p:grpSpPr>
        <p:sp>
          <p:nvSpPr>
            <p:cNvPr id="21" name="Card"/>
            <p:cNvSpPr/>
            <p:nvPr/>
          </p:nvSpPr>
          <p:spPr>
            <a:xfrm>
              <a:off x="5486400" y="3694176"/>
              <a:ext cx="3200400" cy="713232"/>
            </a:xfrm>
            <a:prstGeom prst="roundRect">
              <a:avLst>
                <a:gd name="adj" fmla="val 12821"/>
              </a:avLst>
            </a:prstGeom>
            <a:solidFill>
              <a:schemeClr val="bg1"/>
            </a:solidFill>
            <a:ln/>
            <a:effectLst>
              <a:outerShdw blurRad="762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2" name="Reports badge"/>
            <p:cNvSpPr/>
            <p:nvPr/>
          </p:nvSpPr>
          <p:spPr>
            <a:xfrm>
              <a:off x="5623560" y="3867912"/>
              <a:ext cx="365760" cy="365760"/>
            </a:xfrm>
            <a:prstGeom prst="ellipse">
              <a:avLst/>
            </a:prstGeom>
            <a:solidFill>
              <a:schemeClr val="accent1"/>
            </a:solidFill>
            <a:ln/>
          </p:spPr>
        </p:sp>
        <p:pic>
          <p:nvPicPr>
            <p:cNvPr id="23" name="Reports" descr="Reports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11342" y="3955694"/>
              <a:ext cx="190195" cy="190195"/>
            </a:xfrm>
            <a:prstGeom prst="rect">
              <a:avLst/>
            </a:prstGeom>
          </p:spPr>
        </p:pic>
        <p:sp>
          <p:nvSpPr>
            <p:cNvPr id="24" name="Text 17"/>
            <p:cNvSpPr txBox="1"/>
            <p:nvPr/>
          </p:nvSpPr>
          <p:spPr>
            <a:xfrm>
              <a:off x="6126480" y="3758184"/>
              <a:ext cx="24688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chemeClr val="tx1"/>
                  </a:solidFill>
                </a:rPr>
                <a:t>Reports</a:t>
              </a:r>
              <a:endParaRPr lang="en-US" sz="1200" dirty="0"/>
            </a:p>
          </p:txBody>
        </p:sp>
        <p:sp>
          <p:nvSpPr>
            <p:cNvPr id="25" name="Text 18"/>
            <p:cNvSpPr txBox="1"/>
            <p:nvPr/>
          </p:nvSpPr>
          <p:spPr>
            <a:xfrm>
              <a:off x="6126480" y="3977640"/>
              <a:ext cx="2468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chemeClr val="tx2"/>
                  </a:solidFill>
                </a:rPr>
                <a:t>Session analytics, CSV export, printable PDF</a:t>
              </a:r>
              <a:endParaRPr lang="en-US" sz="1100" dirty="0"/>
            </a:p>
          </p:txBody>
        </p:sp>
      </p:grpSp>
      <p:sp>
        <p:nvSpPr>
          <p:cNvPr id="26" name="Text 19"/>
          <p:cNvSpPr txBox="1"/>
          <p:nvPr/>
        </p:nvSpPr>
        <p:spPr>
          <a:xfrm>
            <a:off x="457200" y="43891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tx2"/>
                </a:solidFill>
              </a:rPr>
              <a:t>Illustrative waveform; not patient data.</a:t>
            </a:r>
            <a:endParaRPr lang="en-US" sz="10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BIOMECHANICAL CONTEXT</a:t>
            </a:r>
            <a:endParaRPr lang="en-US" sz="11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From Movement to Meaning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≈ 58°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Healthy mean peak swing flexion (Bytyqi 2014)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3291840" y="1280160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74720" y="1371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41.9°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Mean in moderate-to-severe medial knee OA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6126480" y="1280160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09360" y="1371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&lt; 45°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Screening flag for stiff-gait risk, not a diagnosis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788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GAIT CYCLE</a:t>
            </a:r>
            <a:endParaRPr lang="en-US" sz="1100" dirty="0"/>
          </a:p>
        </p:txBody>
      </p:sp>
      <p:sp>
        <p:nvSpPr>
          <p:cNvPr id="14" name="Phase card"/>
          <p:cNvSpPr/>
          <p:nvPr/>
        </p:nvSpPr>
        <p:spPr>
          <a:xfrm>
            <a:off x="457200" y="3017520"/>
            <a:ext cx="1828800" cy="640080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3017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1  STANCE</a:t>
            </a:r>
            <a:endParaRPr lang="en-US" sz="1200" dirty="0"/>
          </a:p>
        </p:txBody>
      </p:sp>
      <p:sp>
        <p:nvSpPr>
          <p:cNvPr id="16" name="Connector"/>
          <p:cNvSpPr/>
          <p:nvPr/>
        </p:nvSpPr>
        <p:spPr>
          <a:xfrm>
            <a:off x="2322576" y="3337560"/>
            <a:ext cx="228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17" name="Phase card"/>
          <p:cNvSpPr/>
          <p:nvPr/>
        </p:nvSpPr>
        <p:spPr>
          <a:xfrm>
            <a:off x="2590495" y="3017520"/>
            <a:ext cx="1828800" cy="640080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590495" y="3017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2  TOE-OFF</a:t>
            </a:r>
            <a:endParaRPr lang="en-US" sz="1200" dirty="0"/>
          </a:p>
        </p:txBody>
      </p:sp>
      <p:sp>
        <p:nvSpPr>
          <p:cNvPr id="19" name="Connector"/>
          <p:cNvSpPr/>
          <p:nvPr/>
        </p:nvSpPr>
        <p:spPr>
          <a:xfrm>
            <a:off x="4455871" y="3337560"/>
            <a:ext cx="228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20" name="Phase card"/>
          <p:cNvSpPr/>
          <p:nvPr/>
        </p:nvSpPr>
        <p:spPr>
          <a:xfrm>
            <a:off x="4723790" y="3017520"/>
            <a:ext cx="1828800" cy="640080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23790" y="3017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3  MID-SWING</a:t>
            </a:r>
            <a:endParaRPr lang="en-US" sz="1200" dirty="0"/>
          </a:p>
        </p:txBody>
      </p:sp>
      <p:sp>
        <p:nvSpPr>
          <p:cNvPr id="22" name="Connector"/>
          <p:cNvSpPr/>
          <p:nvPr/>
        </p:nvSpPr>
        <p:spPr>
          <a:xfrm>
            <a:off x="6589166" y="3337560"/>
            <a:ext cx="228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23" name="Phase card"/>
          <p:cNvSpPr/>
          <p:nvPr/>
        </p:nvSpPr>
        <p:spPr>
          <a:xfrm>
            <a:off x="6857086" y="3017520"/>
            <a:ext cx="1828800" cy="640080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7086" y="3017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4  HEEL STRIKE</a:t>
            </a:r>
            <a:endParaRPr lang="en-US" sz="1200" dirty="0"/>
          </a:p>
        </p:txBody>
      </p:sp>
      <p:sp>
        <p:nvSpPr>
          <p:cNvPr id="25" name="Disclaimer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3333"/>
            </a:avLst>
          </a:prstGeom>
          <a:solidFill>
            <a:schemeClr val="accent4">
              <a:alpha val="20000"/>
            </a:scheme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38404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Research / hackathon prototype, not intended for medical diagnosis. </a:t>
            </a:r>
            <a:r>
              <a:rPr lang="en-US" sz="1200" dirty="0">
                <a:solidFill>
                  <a:schemeClr val="tx1"/>
                </a:solidFill>
              </a:rPr>
              <a:t>Shank-only angles are a proxy for knee flexion, so thresholds need recalibration on real data.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ROADMAP</a:t>
            </a:r>
            <a:endParaRPr lang="en-US" sz="11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From Prototype to Scalable Gait AI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2560320" cy="2377440"/>
          </a:xfrm>
          <a:prstGeom prst="roundRect">
            <a:avLst>
              <a:gd name="adj" fmla="val 3846"/>
            </a:avLst>
          </a:prstGeom>
          <a:solidFill>
            <a:schemeClr val="accent2">
              <a:alpha val="20000"/>
            </a:schemeClr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3"/>
                </a:solidFill>
              </a:rPr>
              <a:t>NOW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₹516 prototype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Single shank IMU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ESP32 edge AI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BLE web dashboard</a:t>
            </a:r>
            <a:endParaRPr lang="en-US" sz="1300" dirty="0"/>
          </a:p>
        </p:txBody>
      </p:sp>
      <p:sp>
        <p:nvSpPr>
          <p:cNvPr id="7" name="Connector"/>
          <p:cNvSpPr/>
          <p:nvPr/>
        </p:nvSpPr>
        <p:spPr>
          <a:xfrm>
            <a:off x="3017520" y="2468880"/>
            <a:ext cx="27432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8" name="Card"/>
          <p:cNvSpPr/>
          <p:nvPr/>
        </p:nvSpPr>
        <p:spPr>
          <a:xfrm>
            <a:off x="3291840" y="1280160"/>
            <a:ext cx="2560320" cy="2377440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7472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1"/>
                </a:solidFill>
              </a:rPr>
              <a:t>NEXT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8288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Add thigh IMU for true knee flexion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Real gait data and model validation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Compare with optical capture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Improved enclosure</a:t>
            </a:r>
            <a:endParaRPr lang="en-US" sz="1300" dirty="0"/>
          </a:p>
        </p:txBody>
      </p:sp>
      <p:sp>
        <p:nvSpPr>
          <p:cNvPr id="11" name="Connector"/>
          <p:cNvSpPr/>
          <p:nvPr/>
        </p:nvSpPr>
        <p:spPr>
          <a:xfrm>
            <a:off x="5852160" y="2468880"/>
            <a:ext cx="27432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12" name="Card"/>
          <p:cNvSpPr/>
          <p:nvPr/>
        </p:nvSpPr>
        <p:spPr>
          <a:xfrm>
            <a:off x="6126480" y="1280160"/>
            <a:ext cx="2560320" cy="2377440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0936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1"/>
                </a:solidFill>
              </a:rPr>
              <a:t>FUTURE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8288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Clinical validation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Bilateral left/right nodes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Insole force sensors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Cloud / EHR telehealth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840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POTENTIAL APPLICATIONS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Research  •  Physiotherapy support  •  Gait screening  •  Remote monitoring  •  Resource-constrained settings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CREDITS</a:t>
            </a:r>
            <a:endParaRPr lang="en-US" sz="11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References &amp; Acknowledgements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5303520" cy="297180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1389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RESEARCH REFERENCES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Bytyqi, D., Shabani, B., Lustig, S., Cheze, L., Gjurgjeala, N. K., &amp; Neyret, P. (2014). Gait knee kinematic alterations in medial osteoarthritis: Three-dimensional assessment. International Orthopaedics, 38(6), 1191–1198. https://doi.org/10.1007/s00264-014-2312-3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Rhudy, M. B., Mahoney, J. M., &amp; Altman-Singles, A. R. (2024). Knee angle estimation with dynamic calibration using inertial measurement units for running. Sensors, 24(2), 695. https://doi.org/10.3390/s24020695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Song, K., &amp; Baxter, J. R. (2025). Body-worn inertial measurement units track knee flexion angles with similar accuracy to optical motion capture. medRxiv. https://doi.org/10.1101/2025.10.20.25338317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chemeClr val="tx2"/>
                </a:solidFill>
              </a:rPr>
              <a:t>Espressif Systems. (2023). ESP32 Low-Power Management and RF Power Consumption Specification. Espressif Architecture Documentation, Rev. 3.4.</a:t>
            </a:r>
            <a:endParaRPr lang="en-US" sz="10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3948B3-9771-6E99-25DF-67E53171306A}"/>
              </a:ext>
            </a:extLst>
          </p:cNvPr>
          <p:cNvGrpSpPr/>
          <p:nvPr/>
        </p:nvGrpSpPr>
        <p:grpSpPr>
          <a:xfrm>
            <a:off x="5943600" y="1280160"/>
            <a:ext cx="2651760" cy="1143000"/>
            <a:chOff x="6035040" y="3108960"/>
            <a:chExt cx="2651760" cy="1143000"/>
          </a:xfrm>
        </p:grpSpPr>
        <p:sp>
          <p:nvSpPr>
            <p:cNvPr id="12" name="Card"/>
            <p:cNvSpPr/>
            <p:nvPr/>
          </p:nvSpPr>
          <p:spPr>
            <a:xfrm>
              <a:off x="6035040" y="3108960"/>
              <a:ext cx="2651760" cy="1143000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/>
            <a:effectLst>
              <a:outerShdw blurRad="762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3" name="Text 11"/>
            <p:cNvSpPr txBox="1"/>
            <p:nvPr/>
          </p:nvSpPr>
          <p:spPr>
            <a:xfrm>
              <a:off x="6217920" y="3108960"/>
              <a:ext cx="2286000" cy="1143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chemeClr val="tx2"/>
                  </a:solidFill>
                </a:rPr>
                <a:t>Note: this is a hackathon/research prototype. Dashboard values shown are illustrative, not patient results.</a:t>
              </a:r>
              <a:endParaRPr lang="en-US" sz="1100" dirty="0"/>
            </a:p>
          </p:txBody>
        </p:sp>
      </p:grpSp>
      <p:sp>
        <p:nvSpPr>
          <p:cNvPr id="14" name="Text 12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Democratizing Gait Intelligence.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neeGait Edge">
  <a:themeElements>
    <a:clrScheme name="KneeGait Edge">
      <a:dk1>
        <a:srgbClr val="0B2A4A"/>
      </a:dk1>
      <a:lt1>
        <a:srgbClr val="FFFFFF"/>
      </a:lt1>
      <a:dk2>
        <a:srgbClr val="5B6F86"/>
      </a:dk2>
      <a:lt2>
        <a:srgbClr val="F4F8FF"/>
      </a:lt2>
      <a:accent1>
        <a:srgbClr val="1F7AFF"/>
      </a:accent1>
      <a:accent2>
        <a:srgbClr val="22C7D6"/>
      </a:accent2>
      <a:accent3>
        <a:srgbClr val="12A58F"/>
      </a:accent3>
      <a:accent4>
        <a:srgbClr val="F59E0B"/>
      </a:accent4>
      <a:accent5>
        <a:srgbClr val="E5484D"/>
      </a:accent5>
      <a:accent6>
        <a:srgbClr val="E8F3FF"/>
      </a:accent6>
      <a:hlink>
        <a:srgbClr val="1F7AFF"/>
      </a:hlink>
      <a:folHlink>
        <a:srgbClr val="5B6F86"/>
      </a:folHlink>
    </a:clrScheme>
    <a:fontScheme name="KneeGait Edg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1610</Words>
  <Application>Microsoft Office PowerPoint</Application>
  <PresentationFormat>On-screen Show (16:9)</PresentationFormat>
  <Paragraphs>214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KneeGait Edge</vt:lpstr>
      <vt:lpstr>KneeGait-Edge</vt:lpstr>
      <vt:lpstr>Gait analysis is locked behind labs</vt:lpstr>
      <vt:lpstr>Meet KneeGait-Edge</vt:lpstr>
      <vt:lpstr>From Motion to Gait Intelligence</vt:lpstr>
      <vt:lpstr>Simple Hardware. Smart Processing.</vt:lpstr>
      <vt:lpstr>Turning Raw Motion Into Shank Angle</vt:lpstr>
      <vt:lpstr>From Strides to Features</vt:lpstr>
      <vt:lpstr>Intelligence at the Edge</vt:lpstr>
      <vt:lpstr>See the Gait in Real Time</vt:lpstr>
      <vt:lpstr>From Movement to Meaning</vt:lpstr>
      <vt:lpstr>From Prototype to Scalable Gait AI</vt:lpstr>
      <vt:lpstr>References &amp; Acknowledgements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KneeGait-Edge: Democratizing Gait Intelligence</dc:title>
  <dc:subject>PptxGenJS Presentation</dc:subject>
  <dc:creator>KneeGait-Edge team</dc:creator>
  <cp:lastModifiedBy>Prateek Dhar Dwivedi</cp:lastModifiedBy>
  <cp:revision>8</cp:revision>
  <dcterms:created xsi:type="dcterms:W3CDTF">2026-11-01T02:37:09Z</dcterms:created>
  <dcterms:modified xsi:type="dcterms:W3CDTF">2026-11-01T02:53:24Z</dcterms:modified>
</cp:coreProperties>
</file>